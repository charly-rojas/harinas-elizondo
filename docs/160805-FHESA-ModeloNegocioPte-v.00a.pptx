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7" r:id="rId5"/>
    <p:sldMasterId id="2147483675" r:id="rId6"/>
  </p:sldMasterIdLst>
  <p:notesMasterIdLst>
    <p:notesMasterId r:id="rId26"/>
  </p:notesMasterIdLst>
  <p:handoutMasterIdLst>
    <p:handoutMasterId r:id="rId27"/>
  </p:handoutMasterIdLst>
  <p:sldIdLst>
    <p:sldId id="622" r:id="rId7"/>
    <p:sldId id="623" r:id="rId8"/>
    <p:sldId id="624" r:id="rId9"/>
    <p:sldId id="625" r:id="rId10"/>
    <p:sldId id="629" r:id="rId11"/>
    <p:sldId id="630" r:id="rId12"/>
    <p:sldId id="636" r:id="rId13"/>
    <p:sldId id="637" r:id="rId14"/>
    <p:sldId id="638" r:id="rId15"/>
    <p:sldId id="639" r:id="rId16"/>
    <p:sldId id="640" r:id="rId17"/>
    <p:sldId id="641" r:id="rId18"/>
    <p:sldId id="642" r:id="rId19"/>
    <p:sldId id="643" r:id="rId20"/>
    <p:sldId id="644" r:id="rId21"/>
    <p:sldId id="645" r:id="rId22"/>
    <p:sldId id="646" r:id="rId23"/>
    <p:sldId id="647" r:id="rId24"/>
    <p:sldId id="648" r:id="rId25"/>
  </p:sldIdLst>
  <p:sldSz cx="9144000" cy="6858000" type="screen4x3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haidar" initials="nhs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33CCCC"/>
    <a:srgbClr val="993300"/>
    <a:srgbClr val="BAF1FC"/>
    <a:srgbClr val="FF9933"/>
    <a:srgbClr val="FFCC99"/>
    <a:srgbClr val="CC6600"/>
    <a:srgbClr val="CBF4F9"/>
    <a:srgbClr val="E4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24" autoAdjust="0"/>
  </p:normalViewPr>
  <p:slideViewPr>
    <p:cSldViewPr>
      <p:cViewPr varScale="1">
        <p:scale>
          <a:sx n="69" d="100"/>
          <a:sy n="69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108"/>
    </p:cViewPr>
  </p:sorterViewPr>
  <p:notesViewPr>
    <p:cSldViewPr>
      <p:cViewPr varScale="1">
        <p:scale>
          <a:sx n="51" d="100"/>
          <a:sy n="51" d="100"/>
        </p:scale>
        <p:origin x="-2826" y="-102"/>
      </p:cViewPr>
      <p:guideLst>
        <p:guide orient="horz" pos="2957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FB0D1A45-41C0-4398-8929-12D6A4870C1C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E4F2FA5-3596-4CE0-9DB9-528CBE124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619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A5C0D253-4A95-4D03-A02E-A788AFFEA70B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vert="horz" lIns="94229" tIns="47114" rIns="94229" bIns="4711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0BB651B8-B862-43CE-956C-2C10D78654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686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Gobierno Corporativ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rgbClr val="3333FF"/>
          </a:solidFill>
          <a:ln w="19050" cap="sq" cmpd="sng" algn="ctr">
            <a:solidFill>
              <a:srgbClr val="3333FF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sq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sq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baseline="0" dirty="0">
                <a:solidFill>
                  <a:srgbClr val="FFFFFF"/>
                </a:solidFill>
              </a:defRPr>
            </a:lvl1pPr>
          </a:lstStyle>
          <a:p>
            <a:endParaRPr kumimoji="0" lang="es-MX" noProof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marzo de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/>
          <a:lstStyle/>
          <a:p>
            <a:fld id="{56E8E9AC-1EAE-4439-9F3A-5D68DC7613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MX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/>
          <a:lstStyle/>
          <a:p>
            <a:fld id="{56E8E9AC-1EAE-4439-9F3A-5D68DC7613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buClr>
                <a:srgbClr val="0000CC"/>
              </a:buClr>
              <a:defRPr/>
            </a:lvl1pPr>
            <a:lvl2pPr>
              <a:buClr>
                <a:srgbClr val="3333FF"/>
              </a:buClr>
              <a:defRPr/>
            </a:lvl2pPr>
            <a:lvl3pPr>
              <a:buClr>
                <a:srgbClr val="3333FF"/>
              </a:buClr>
              <a:defRPr/>
            </a:lvl3pPr>
            <a:lvl4pPr>
              <a:buClr>
                <a:srgbClr val="3333FF"/>
              </a:buClr>
              <a:defRPr/>
            </a:lvl4pPr>
            <a:lvl5pPr>
              <a:buClr>
                <a:srgbClr val="3333FF"/>
              </a:buClr>
              <a:defRPr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MX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rgbClr val="3333FF"/>
          </a:solidFill>
          <a:ln w="19050" cap="sq" cmpd="sng" algn="ctr">
            <a:solidFill>
              <a:srgbClr val="3333FF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sq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sq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F0540-424B-49E3-9081-3CE92236D7DB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‹#›</a:t>
            </a:fld>
            <a:endParaRPr lang="es-MX"/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MX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4DFB-2C15-407B-AD3E-2CD21BC6B108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6D3E8E-AC7A-4DCD-A701-7C5234ACF4EF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‹#›</a:t>
            </a:fld>
            <a:endParaRPr lang="es-MX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rgbClr val="3333FF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rgbClr val="3333FF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6D6579-4115-482F-B067-B6C43722BAE5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‹#›</a:t>
            </a:fld>
            <a:endParaRPr lang="es-MX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>
            <a:lvl1pPr>
              <a:buClr>
                <a:srgbClr val="3333FF"/>
              </a:buClr>
              <a:defRPr/>
            </a:lvl1pPr>
            <a:lvl2pPr>
              <a:buClr>
                <a:srgbClr val="3333FF"/>
              </a:buClr>
              <a:defRPr/>
            </a:lvl2pPr>
            <a:lvl3pPr>
              <a:buClr>
                <a:srgbClr val="3333FF"/>
              </a:buClr>
              <a:defRPr/>
            </a:lvl3pPr>
            <a:lvl4pPr>
              <a:buClr>
                <a:srgbClr val="3333FF"/>
              </a:buClr>
              <a:defRPr/>
            </a:lvl4pPr>
            <a:lvl5pPr>
              <a:buClr>
                <a:srgbClr val="3333FF"/>
              </a:buClr>
              <a:defRPr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>
            <a:lvl1pPr>
              <a:buClr>
                <a:srgbClr val="3333FF"/>
              </a:buClr>
              <a:defRPr/>
            </a:lvl1pPr>
            <a:lvl2pPr>
              <a:buClr>
                <a:srgbClr val="3333FF"/>
              </a:buClr>
              <a:defRPr/>
            </a:lvl2pPr>
            <a:lvl3pPr>
              <a:buClr>
                <a:srgbClr val="3333FF"/>
              </a:buClr>
              <a:defRPr/>
            </a:lvl3pPr>
            <a:lvl4pPr>
              <a:buClr>
                <a:srgbClr val="3333FF"/>
              </a:buClr>
              <a:defRPr/>
            </a:lvl4pPr>
            <a:lvl5pPr>
              <a:buClr>
                <a:srgbClr val="3333FF"/>
              </a:buClr>
              <a:defRPr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BA0424-A9FF-494B-9D22-B1A5D17F0383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4BC952-1AEB-4BA0-9BF7-2C6A6A77C56C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84D211-8278-4521-98BF-81399BD6C751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‹#›</a:t>
            </a:fld>
            <a:endParaRPr lang="es-MX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8875E9-E5C5-47B3-AD04-A744DBCD6CF5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‹#›</a:t>
            </a:fld>
            <a:endParaRPr lang="es-MX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44C3BE-1FC8-41D8-ADC5-FB65608760F4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BCBD40-EE17-489A-9E56-FA37958C2A91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CE558-9C9C-4C52-B923-9C1B54E15923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9667928"/>
      </p:ext>
    </p:extLst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74729736"/>
      </p:ext>
    </p:extLst>
  </p:cSld>
  <p:clrMapOvr>
    <a:masterClrMapping/>
  </p:clrMapOvr>
  <p:transition spd="slow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97120958"/>
      </p:ext>
    </p:extLst>
  </p:cSld>
  <p:clrMapOvr>
    <a:masterClrMapping/>
  </p:clrMapOvr>
  <p:transition spd="slow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0666242"/>
      </p:ext>
    </p:extLst>
  </p:cSld>
  <p:clrMapOvr>
    <a:masterClrMapping/>
  </p:clrMapOvr>
  <p:transition spd="slow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2451488"/>
      </p:ext>
    </p:extLst>
  </p:cSld>
  <p:clrMapOvr>
    <a:masterClrMapping/>
  </p:clrMapOvr>
  <p:transition spd="slow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31099150"/>
      </p:ext>
    </p:extLst>
  </p:cSld>
  <p:clrMapOvr>
    <a:masterClrMapping/>
  </p:clrMapOvr>
  <p:transition spd="slow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3339635"/>
      </p:ext>
    </p:extLst>
  </p:cSld>
  <p:clrMapOvr>
    <a:masterClrMapping/>
  </p:clrMapOvr>
  <p:transition spd="slow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21009537"/>
      </p:ext>
    </p:extLst>
  </p:cSld>
  <p:clrMapOvr>
    <a:masterClrMapping/>
  </p:clrMapOvr>
  <p:transition spd="slow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68551721"/>
      </p:ext>
    </p:extLst>
  </p:cSld>
  <p:clrMapOvr>
    <a:masterClrMapping/>
  </p:clrMapOvr>
  <p:transition spd="slow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22305689"/>
      </p:ext>
    </p:extLst>
  </p:cSld>
  <p:clrMapOvr>
    <a:masterClrMapping/>
  </p:clrMapOvr>
  <p:transition spd="slow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83296935"/>
      </p:ext>
    </p:extLst>
  </p:cSld>
  <p:clrMapOvr>
    <a:masterClrMapping/>
  </p:clrMapOvr>
  <p:transition spd="slow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98151433"/>
      </p:ext>
    </p:extLst>
  </p:cSld>
  <p:clrMapOvr>
    <a:masterClrMapping/>
  </p:clrMapOvr>
  <p:transition spd="slow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98718873"/>
      </p:ext>
    </p:extLst>
  </p:cSld>
  <p:clrMapOvr>
    <a:masterClrMapping/>
  </p:clrMapOvr>
  <p:transition spd="slow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13657121"/>
      </p:ext>
    </p:extLst>
  </p:cSld>
  <p:clrMapOvr>
    <a:masterClrMapping/>
  </p:clrMapOvr>
  <p:transition spd="slow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02664043"/>
      </p:ext>
    </p:extLst>
  </p:cSld>
  <p:clrMapOvr>
    <a:masterClrMapping/>
  </p:clrMapOvr>
  <p:transition spd="slow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79863931"/>
      </p:ext>
    </p:extLst>
  </p:cSld>
  <p:clrMapOvr>
    <a:masterClrMapping/>
  </p:clrMapOvr>
  <p:transition spd="slow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23072751"/>
      </p:ext>
    </p:extLst>
  </p:cSld>
  <p:clrMapOvr>
    <a:masterClrMapping/>
  </p:clrMapOvr>
  <p:transition spd="slow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21595700"/>
      </p:ext>
    </p:extLst>
  </p:cSld>
  <p:clrMapOvr>
    <a:masterClrMapping/>
  </p:clrMapOvr>
  <p:transition spd="slow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255841"/>
      </p:ext>
    </p:extLst>
  </p:cSld>
  <p:clrMapOvr>
    <a:masterClrMapping/>
  </p:clrMapOvr>
  <p:transition spd="slow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20001563"/>
      </p:ext>
    </p:extLst>
  </p:cSld>
  <p:clrMapOvr>
    <a:masterClrMapping/>
  </p:clrMapOvr>
  <p:transition spd="slow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52001175"/>
      </p:ext>
    </p:extLst>
  </p:cSld>
  <p:clrMapOvr>
    <a:masterClrMapping/>
  </p:clrMapOvr>
  <p:transition spd="slow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54247260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s-MX" noProof="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s-MX" noProof="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8985BF-BB93-4B8F-B943-E4A2A4043D68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56E8E9AC-1EAE-4439-9F3A-5D68DC7613C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62" r:id="rId3"/>
    <p:sldLayoutId id="2147483663" r:id="rId4"/>
    <p:sldLayoutId id="2147483672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4" r:id="rId14"/>
  </p:sldLayoutIdLst>
  <p:transition spd="slow">
    <p:wipe dir="r"/>
  </p:transition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E83F3-403D-45E8-876C-184382F4B73E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52ACB-BE16-4A5F-85E5-D135990A65C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7927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 spd="slow"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B008B-90E7-46A0-9BA2-13ECFD8AEA99}" type="datetimeFigureOut">
              <a:rPr lang="x-none" smtClean="0"/>
              <a:t>3/18/2026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95359-B48F-4F54-8A35-DB800A43E9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631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 spd="slow"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8.xml"/><Relationship Id="rId7" Type="http://schemas.openxmlformats.org/officeDocument/2006/relationships/slide" Target="slide11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5" Type="http://schemas.openxmlformats.org/officeDocument/2006/relationships/slide" Target="slide14.xml"/><Relationship Id="rId4" Type="http://schemas.openxmlformats.org/officeDocument/2006/relationships/slide" Target="slide10.xml"/><Relationship Id="rId9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slide" Target="slide3.xml"/><Relationship Id="rId3" Type="http://schemas.openxmlformats.org/officeDocument/2006/relationships/slide" Target="slide14.xml"/><Relationship Id="rId7" Type="http://schemas.openxmlformats.org/officeDocument/2006/relationships/slide" Target="slide8.xml"/><Relationship Id="rId12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slide" Target="slide15.xml"/><Relationship Id="rId5" Type="http://schemas.openxmlformats.org/officeDocument/2006/relationships/slide" Target="slide10.xml"/><Relationship Id="rId10" Type="http://schemas.openxmlformats.org/officeDocument/2006/relationships/image" Target="../media/image6.jpeg"/><Relationship Id="rId4" Type="http://schemas.openxmlformats.org/officeDocument/2006/relationships/image" Target="../media/image3.jpeg"/><Relationship Id="rId9" Type="http://schemas.openxmlformats.org/officeDocument/2006/relationships/slide" Target="slide7.xml"/><Relationship Id="rId1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Documentación del Modelo de Negocio Presente</a:t>
            </a:r>
          </a:p>
        </p:txBody>
      </p:sp>
      <p:pic>
        <p:nvPicPr>
          <p:cNvPr id="4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219" y="5007043"/>
            <a:ext cx="1433885" cy="1590309"/>
          </a:xfrm>
          <a:prstGeom prst="rect">
            <a:avLst/>
          </a:prstGeom>
        </p:spPr>
      </p:pic>
      <p:sp>
        <p:nvSpPr>
          <p:cNvPr id="3" name="2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Planeación Estratégica</a:t>
            </a:r>
          </a:p>
        </p:txBody>
      </p:sp>
    </p:spTree>
    <p:extLst>
      <p:ext uri="{BB962C8B-B14F-4D97-AF65-F5344CB8AC3E}">
        <p14:creationId xmlns:p14="http://schemas.microsoft.com/office/powerpoint/2010/main" val="512468558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Control de versiones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8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604894"/>
              </p:ext>
            </p:extLst>
          </p:nvPr>
        </p:nvGraphicFramePr>
        <p:xfrm>
          <a:off x="611560" y="1750680"/>
          <a:ext cx="7796982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0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Versión</a:t>
                      </a:r>
                    </a:p>
                  </a:txBody>
                  <a:tcPr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Responsable</a:t>
                      </a:r>
                    </a:p>
                  </a:txBody>
                  <a:tcPr>
                    <a:solidFill>
                      <a:srgbClr val="33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16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v.00a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Versión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02-ago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v.00b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Revisión interna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05-ago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084536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Índice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MX" dirty="0">
                <a:hlinkClick r:id="rId2" action="ppaction://hlinksldjump"/>
              </a:rPr>
              <a:t>Concepto de Modelo de Negocio</a:t>
            </a:r>
            <a:endParaRPr lang="es-MX" dirty="0"/>
          </a:p>
          <a:p>
            <a:r>
              <a:rPr lang="es-MX" dirty="0">
                <a:hlinkClick r:id="rId3" action="ppaction://hlinksldjump"/>
              </a:rPr>
              <a:t>Segmentos de Cliente para Fábricas de Harinas Elizondo</a:t>
            </a:r>
            <a:endParaRPr lang="es-MX" dirty="0"/>
          </a:p>
          <a:p>
            <a:r>
              <a:rPr lang="es-MX" dirty="0">
                <a:hlinkClick r:id="rId4" action="ppaction://hlinksldjump"/>
              </a:rPr>
              <a:t>Modelo de Negocio FHESA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39656090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 de Modelo de Negocio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MX" sz="2800" dirty="0"/>
              <a:t>Es una herramienta para describir la manera en que Fábricas de Harina Elizondo crea, entrega y captura valor. </a:t>
            </a:r>
          </a:p>
          <a:p>
            <a:pPr marL="0" indent="0">
              <a:buNone/>
            </a:pPr>
            <a:r>
              <a:rPr lang="es-MX" sz="2800" dirty="0"/>
              <a:t>El modelo describe:</a:t>
            </a:r>
          </a:p>
          <a:p>
            <a:pPr marL="447675" lvl="1" indent="-258763">
              <a:lnSpc>
                <a:spcPts val="2500"/>
              </a:lnSpc>
              <a:spcBef>
                <a:spcPts val="0"/>
              </a:spcBef>
            </a:pPr>
            <a:r>
              <a:rPr lang="es-MX" b="1" dirty="0"/>
              <a:t>Segmentos: </a:t>
            </a:r>
            <a:r>
              <a:rPr lang="es-MX" dirty="0"/>
              <a:t>es la agrupación de personas o empresas con características homogéneas a quienes se dirige con una propuesta de valor</a:t>
            </a:r>
          </a:p>
          <a:p>
            <a:pPr marL="447675" lvl="1" indent="-258763">
              <a:lnSpc>
                <a:spcPts val="2500"/>
              </a:lnSpc>
              <a:spcBef>
                <a:spcPts val="0"/>
              </a:spcBef>
            </a:pPr>
            <a:r>
              <a:rPr lang="es-MX" b="1" dirty="0"/>
              <a:t>Propuesta de Valor: </a:t>
            </a:r>
            <a:r>
              <a:rPr lang="es-MX" dirty="0"/>
              <a:t>es el conjunto de productos y servicios a través de la cual se satisfacen necesidades o se resuelven problemas en cada cada segmento</a:t>
            </a:r>
          </a:p>
          <a:p>
            <a:pPr marL="447675" lvl="1" indent="-258763">
              <a:lnSpc>
                <a:spcPts val="2500"/>
              </a:lnSpc>
              <a:spcBef>
                <a:spcPts val="0"/>
              </a:spcBef>
            </a:pPr>
            <a:r>
              <a:rPr lang="es-MX" b="1" dirty="0"/>
              <a:t>Canal: </a:t>
            </a:r>
            <a:r>
              <a:rPr lang="es-MX" dirty="0"/>
              <a:t>Es el agente mediante el cual una Propuesta de Valor es comunicada y entregada a cada segmento</a:t>
            </a:r>
          </a:p>
          <a:p>
            <a:pPr marL="447675" lvl="1" indent="-258763">
              <a:lnSpc>
                <a:spcPts val="2500"/>
              </a:lnSpc>
              <a:spcBef>
                <a:spcPts val="0"/>
              </a:spcBef>
            </a:pPr>
            <a:r>
              <a:rPr lang="es-MX" b="1" dirty="0"/>
              <a:t>Relación con Clientes: </a:t>
            </a:r>
            <a:r>
              <a:rPr lang="es-MX" dirty="0"/>
              <a:t>Describe la manera cómo la organización adquiere y mantiene los clientes </a:t>
            </a:r>
          </a:p>
          <a:p>
            <a:pPr marL="447675" lvl="1" indent="-258763">
              <a:lnSpc>
                <a:spcPts val="2500"/>
              </a:lnSpc>
              <a:spcBef>
                <a:spcPts val="0"/>
              </a:spcBef>
            </a:pPr>
            <a:r>
              <a:rPr lang="es-MX" b="1" dirty="0"/>
              <a:t>Modelo de Ingresos: </a:t>
            </a:r>
            <a:r>
              <a:rPr lang="es-MX" dirty="0"/>
              <a:t>es la manera cómo FHESA captura el valor con el precio que un cliente está dispuesto a pagar como consecuencia de una entrega exitosa de una propuesta de valor</a:t>
            </a:r>
          </a:p>
          <a:p>
            <a:pPr marL="447675" lvl="1" indent="-258763">
              <a:lnSpc>
                <a:spcPts val="2500"/>
              </a:lnSpc>
              <a:spcBef>
                <a:spcPts val="0"/>
              </a:spcBef>
            </a:pPr>
            <a:r>
              <a:rPr lang="es-MX" b="1" dirty="0"/>
              <a:t>Recursos Clave: </a:t>
            </a:r>
            <a:r>
              <a:rPr lang="es-MX" dirty="0"/>
              <a:t>son los principales activos requeridos para ofrecer y entregar los elementos anteriores</a:t>
            </a:r>
          </a:p>
          <a:p>
            <a:pPr marL="447675" lvl="1" indent="-258763">
              <a:lnSpc>
                <a:spcPts val="2500"/>
              </a:lnSpc>
              <a:spcBef>
                <a:spcPts val="0"/>
              </a:spcBef>
            </a:pPr>
            <a:r>
              <a:rPr lang="es-MX" b="1" dirty="0"/>
              <a:t>Actividades Clave: </a:t>
            </a:r>
            <a:r>
              <a:rPr lang="es-MX" dirty="0"/>
              <a:t>son las tareas principales para obtener un buen desempeño</a:t>
            </a:r>
          </a:p>
          <a:p>
            <a:pPr marL="447675" lvl="1" indent="-258763">
              <a:lnSpc>
                <a:spcPts val="2500"/>
              </a:lnSpc>
              <a:spcBef>
                <a:spcPts val="0"/>
              </a:spcBef>
            </a:pPr>
            <a:r>
              <a:rPr lang="es-MX" b="1" dirty="0"/>
              <a:t>Alianzas Clave: </a:t>
            </a:r>
            <a:r>
              <a:rPr lang="es-MX" dirty="0"/>
              <a:t>es la red de proveedores y socios de negocio que ofrecen recursos y actividades externas</a:t>
            </a:r>
          </a:p>
          <a:p>
            <a:pPr marL="447675" lvl="1" indent="-258763">
              <a:lnSpc>
                <a:spcPts val="2500"/>
              </a:lnSpc>
              <a:spcBef>
                <a:spcPts val="0"/>
              </a:spcBef>
            </a:pPr>
            <a:r>
              <a:rPr lang="es-MX" b="1" dirty="0"/>
              <a:t>Estructura de Costos: </a:t>
            </a:r>
            <a:r>
              <a:rPr lang="es-MX" dirty="0"/>
              <a:t>Describen los costos para operar un modelo de negocio</a:t>
            </a:r>
          </a:p>
          <a:p>
            <a:endParaRPr lang="es-MX" dirty="0"/>
          </a:p>
        </p:txBody>
      </p:sp>
      <p:sp>
        <p:nvSpPr>
          <p:cNvPr id="6" name="5 Bisel">
            <a:hlinkClick r:id="rId2" action="ppaction://hlinksldjump"/>
          </p:cNvPr>
          <p:cNvSpPr/>
          <p:nvPr/>
        </p:nvSpPr>
        <p:spPr>
          <a:xfrm>
            <a:off x="755576" y="6093296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Índice</a:t>
            </a:r>
          </a:p>
        </p:txBody>
      </p:sp>
      <p:sp>
        <p:nvSpPr>
          <p:cNvPr id="7" name="6 Bisel">
            <a:hlinkClick r:id="rId3" action="ppaction://hlinksldjump"/>
          </p:cNvPr>
          <p:cNvSpPr/>
          <p:nvPr/>
        </p:nvSpPr>
        <p:spPr>
          <a:xfrm>
            <a:off x="755576" y="6381328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2111662451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Modelo de Negocio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4 Rectángulo redondeado"/>
          <p:cNvSpPr/>
          <p:nvPr/>
        </p:nvSpPr>
        <p:spPr>
          <a:xfrm>
            <a:off x="6804248" y="1772817"/>
            <a:ext cx="1440160" cy="2844718"/>
          </a:xfrm>
          <a:prstGeom prst="roundRect">
            <a:avLst/>
          </a:prstGeom>
          <a:solidFill>
            <a:srgbClr val="3333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1400" b="1" dirty="0">
                <a:solidFill>
                  <a:schemeClr val="bg1"/>
                </a:solidFill>
              </a:rPr>
              <a:t>SEGMENTO</a:t>
            </a:r>
          </a:p>
          <a:p>
            <a:pPr algn="ctr"/>
            <a:endParaRPr lang="es-MX" sz="1400" b="1" dirty="0">
              <a:solidFill>
                <a:schemeClr val="bg1"/>
              </a:solidFill>
            </a:endParaRPr>
          </a:p>
          <a:p>
            <a:r>
              <a:rPr lang="es-MX" sz="1400" b="1" dirty="0">
                <a:solidFill>
                  <a:schemeClr val="bg1"/>
                </a:solidFill>
                <a:hlinkClick r:id="rId2" action="ppaction://hlinksldjump"/>
              </a:rPr>
              <a:t>- Mayoristas</a:t>
            </a:r>
          </a:p>
          <a:p>
            <a:r>
              <a:rPr lang="es-MX" sz="1400" b="1" dirty="0">
                <a:solidFill>
                  <a:schemeClr val="bg1"/>
                </a:solidFill>
              </a:rPr>
              <a:t>- </a:t>
            </a:r>
            <a:r>
              <a:rPr lang="es-MX" sz="1400" b="1" dirty="0">
                <a:solidFill>
                  <a:schemeClr val="bg1"/>
                </a:solidFill>
                <a:hlinkClick r:id="rId3" action="ppaction://hlinksldjump"/>
              </a:rPr>
              <a:t>Industriales</a:t>
            </a:r>
            <a:endParaRPr lang="es-MX" sz="1400" b="1" dirty="0">
              <a:solidFill>
                <a:schemeClr val="bg1"/>
              </a:solidFill>
            </a:endParaRPr>
          </a:p>
          <a:p>
            <a:r>
              <a:rPr lang="es-MX" sz="1400" b="1" dirty="0">
                <a:solidFill>
                  <a:schemeClr val="bg1"/>
                </a:solidFill>
              </a:rPr>
              <a:t>- </a:t>
            </a:r>
            <a:r>
              <a:rPr lang="es-MX" sz="1400" b="1" dirty="0">
                <a:solidFill>
                  <a:schemeClr val="bg1"/>
                </a:solidFill>
                <a:hlinkClick r:id="rId4" action="ppaction://hlinksldjump"/>
              </a:rPr>
              <a:t>Panaderías</a:t>
            </a:r>
            <a:endParaRPr lang="es-MX" sz="1400" b="1" dirty="0">
              <a:solidFill>
                <a:schemeClr val="bg1"/>
              </a:solidFill>
            </a:endParaRPr>
          </a:p>
          <a:p>
            <a:pPr marL="17463" indent="-17463">
              <a:buFontTx/>
              <a:buChar char="-"/>
            </a:pPr>
            <a:r>
              <a:rPr lang="es-MX" sz="1400" b="1" dirty="0">
                <a:solidFill>
                  <a:schemeClr val="bg1"/>
                </a:solidFill>
                <a:hlinkClick r:id="rId5" action="ppaction://hlinksldjump"/>
              </a:rPr>
              <a:t>Negocios Pequeños</a:t>
            </a:r>
            <a:endParaRPr lang="es-MX" sz="1400" b="1" dirty="0">
              <a:solidFill>
                <a:schemeClr val="bg1"/>
              </a:solidFill>
            </a:endParaRPr>
          </a:p>
          <a:p>
            <a:pPr marL="17463" indent="-17463">
              <a:buFontTx/>
              <a:buChar char="-"/>
            </a:pPr>
            <a:r>
              <a:rPr lang="es-MX" sz="1400" b="1" dirty="0">
                <a:solidFill>
                  <a:schemeClr val="bg1"/>
                </a:solidFill>
                <a:hlinkClick r:id="rId6" action="ppaction://hlinksldjump"/>
              </a:rPr>
              <a:t>Tortillerías</a:t>
            </a:r>
            <a:endParaRPr lang="es-MX" sz="1400" b="1" dirty="0">
              <a:solidFill>
                <a:schemeClr val="bg1"/>
              </a:solidFill>
            </a:endParaRPr>
          </a:p>
        </p:txBody>
      </p:sp>
      <p:sp>
        <p:nvSpPr>
          <p:cNvPr id="6" name="5 Rectángulo redondeado"/>
          <p:cNvSpPr/>
          <p:nvPr/>
        </p:nvSpPr>
        <p:spPr>
          <a:xfrm>
            <a:off x="5436096" y="1772816"/>
            <a:ext cx="1152128" cy="1296145"/>
          </a:xfrm>
          <a:prstGeom prst="roundRect">
            <a:avLst/>
          </a:prstGeom>
          <a:solidFill>
            <a:srgbClr val="3333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</a:rPr>
              <a:t>REL. CTES.</a:t>
            </a:r>
          </a:p>
          <a:p>
            <a:endParaRPr lang="es-MX" sz="1400" dirty="0">
              <a:solidFill>
                <a:schemeClr val="bg1"/>
              </a:solidFill>
            </a:endParaRPr>
          </a:p>
          <a:p>
            <a:r>
              <a:rPr lang="es-MX" sz="1400" b="1" dirty="0">
                <a:solidFill>
                  <a:schemeClr val="bg1"/>
                </a:solidFill>
              </a:rPr>
              <a:t>- Persona-</a:t>
            </a:r>
            <a:r>
              <a:rPr lang="es-MX" sz="1400" b="1" dirty="0" err="1">
                <a:solidFill>
                  <a:schemeClr val="bg1"/>
                </a:solidFill>
              </a:rPr>
              <a:t>lizado</a:t>
            </a:r>
            <a:endParaRPr lang="es-MX" sz="1400" b="1" dirty="0">
              <a:solidFill>
                <a:schemeClr val="bg1"/>
              </a:solidFill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3707904" y="1772817"/>
            <a:ext cx="1512168" cy="2844718"/>
          </a:xfrm>
          <a:prstGeom prst="roundRect">
            <a:avLst/>
          </a:prstGeom>
          <a:solidFill>
            <a:srgbClr val="3333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</a:rPr>
              <a:t>PROPUESTA DE VALOR</a:t>
            </a:r>
          </a:p>
          <a:p>
            <a:endParaRPr lang="es-MX" sz="1400" b="1" dirty="0">
              <a:solidFill>
                <a:schemeClr val="bg1"/>
              </a:solidFill>
            </a:endParaRPr>
          </a:p>
          <a:p>
            <a:r>
              <a:rPr lang="es-MX" sz="1400" b="1" dirty="0">
                <a:solidFill>
                  <a:schemeClr val="bg1"/>
                </a:solidFill>
              </a:rPr>
              <a:t>- </a:t>
            </a:r>
            <a:r>
              <a:rPr lang="es-MX" sz="1400" b="1" dirty="0">
                <a:solidFill>
                  <a:schemeClr val="bg1"/>
                </a:solidFill>
                <a:hlinkClick r:id="rId4" action="ppaction://hlinksldjump"/>
              </a:rPr>
              <a:t>Ver detalle</a:t>
            </a:r>
            <a:endParaRPr lang="es-MX" sz="1400" b="1" dirty="0">
              <a:solidFill>
                <a:schemeClr val="bg1"/>
              </a:solidFill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4500432" y="4833559"/>
            <a:ext cx="3779760" cy="1224136"/>
          </a:xfrm>
          <a:prstGeom prst="roundRect">
            <a:avLst/>
          </a:prstGeom>
          <a:solidFill>
            <a:srgbClr val="3333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</a:rPr>
              <a:t>MODELO DE INGRESOS</a:t>
            </a:r>
          </a:p>
          <a:p>
            <a:pPr algn="ctr"/>
            <a:endParaRPr lang="es-MX" sz="1400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s-MX" sz="1400" b="1" dirty="0">
                <a:solidFill>
                  <a:schemeClr val="bg1"/>
                </a:solidFill>
              </a:rPr>
              <a:t>Venta de Harinas de Trigo</a:t>
            </a:r>
          </a:p>
          <a:p>
            <a:pPr marL="285750" indent="-285750">
              <a:buFontTx/>
              <a:buChar char="-"/>
            </a:pPr>
            <a:r>
              <a:rPr lang="es-MX" sz="1400" b="1" dirty="0">
                <a:solidFill>
                  <a:schemeClr val="bg1"/>
                </a:solidFill>
              </a:rPr>
              <a:t>Venta de Derivados de Trigo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611560" y="4833559"/>
            <a:ext cx="3779760" cy="1224136"/>
          </a:xfrm>
          <a:prstGeom prst="roundRect">
            <a:avLst/>
          </a:prstGeom>
          <a:solidFill>
            <a:srgbClr val="3333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</a:rPr>
              <a:t>ESTRUCTURA DE COSTOS</a:t>
            </a:r>
          </a:p>
          <a:p>
            <a:endParaRPr lang="es-MX" sz="1400" b="1" dirty="0">
              <a:solidFill>
                <a:schemeClr val="bg1"/>
              </a:solidFill>
            </a:endParaRPr>
          </a:p>
          <a:p>
            <a:r>
              <a:rPr lang="es-MX" sz="1400" b="1" dirty="0">
                <a:solidFill>
                  <a:schemeClr val="bg1"/>
                </a:solidFill>
              </a:rPr>
              <a:t>- </a:t>
            </a:r>
            <a:r>
              <a:rPr lang="es-MX" sz="1400" b="1" dirty="0">
                <a:solidFill>
                  <a:schemeClr val="bg1"/>
                </a:solidFill>
                <a:hlinkClick r:id="rId7" action="ppaction://hlinksldjump"/>
              </a:rPr>
              <a:t>Ver detalle</a:t>
            </a:r>
            <a:endParaRPr lang="es-MX" sz="1400" b="1" dirty="0">
              <a:solidFill>
                <a:schemeClr val="bg1"/>
              </a:solidFill>
            </a:endParaRPr>
          </a:p>
          <a:p>
            <a:pPr>
              <a:lnSpc>
                <a:spcPts val="2000"/>
              </a:lnSpc>
            </a:pPr>
            <a:endParaRPr lang="es-MX" sz="1600" b="1" dirty="0">
              <a:solidFill>
                <a:schemeClr val="bg1"/>
              </a:solidFill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5436096" y="3321390"/>
            <a:ext cx="1152128" cy="1296145"/>
          </a:xfrm>
          <a:prstGeom prst="roundRect">
            <a:avLst/>
          </a:prstGeom>
          <a:solidFill>
            <a:srgbClr val="3333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</a:rPr>
              <a:t>CANALES</a:t>
            </a:r>
          </a:p>
          <a:p>
            <a:endParaRPr lang="es-MX" sz="1400" b="1" dirty="0">
              <a:solidFill>
                <a:schemeClr val="bg1"/>
              </a:solidFill>
            </a:endParaRPr>
          </a:p>
          <a:p>
            <a:r>
              <a:rPr lang="es-MX" sz="1400" b="1" dirty="0">
                <a:solidFill>
                  <a:schemeClr val="bg1"/>
                </a:solidFill>
              </a:rPr>
              <a:t>-Fuerza de Ventas</a:t>
            </a:r>
          </a:p>
          <a:p>
            <a:endParaRPr lang="es-MX" sz="1200" b="1" dirty="0">
              <a:solidFill>
                <a:schemeClr val="bg1"/>
              </a:solidFill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683568" y="1772817"/>
            <a:ext cx="1440160" cy="2844718"/>
          </a:xfrm>
          <a:prstGeom prst="roundRect">
            <a:avLst/>
          </a:prstGeom>
          <a:solidFill>
            <a:srgbClr val="3333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</a:rPr>
              <a:t>ALIANZAS</a:t>
            </a:r>
          </a:p>
          <a:p>
            <a:endParaRPr lang="es-MX" sz="1400" b="1" dirty="0">
              <a:solidFill>
                <a:schemeClr val="bg1"/>
              </a:solidFill>
            </a:endParaRPr>
          </a:p>
          <a:p>
            <a:r>
              <a:rPr lang="es-MX" sz="1400" b="1" dirty="0">
                <a:solidFill>
                  <a:schemeClr val="bg1"/>
                </a:solidFill>
              </a:rPr>
              <a:t>* No se tienen alianzas como estrategia para tener mayor flexibilidad e independen-</a:t>
            </a:r>
            <a:r>
              <a:rPr lang="es-MX" sz="1400" b="1" dirty="0" err="1">
                <a:solidFill>
                  <a:schemeClr val="bg1"/>
                </a:solidFill>
              </a:rPr>
              <a:t>cia</a:t>
            </a:r>
            <a:endParaRPr lang="es-MX" sz="1400" b="1" dirty="0">
              <a:solidFill>
                <a:schemeClr val="bg1"/>
              </a:solidFill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2339752" y="1772816"/>
            <a:ext cx="1152128" cy="1296145"/>
          </a:xfrm>
          <a:prstGeom prst="roundRect">
            <a:avLst/>
          </a:prstGeom>
          <a:solidFill>
            <a:srgbClr val="3333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</a:rPr>
              <a:t>ACT. CVES</a:t>
            </a:r>
          </a:p>
          <a:p>
            <a:endParaRPr lang="es-MX" sz="1400" b="1" dirty="0">
              <a:solidFill>
                <a:schemeClr val="bg1"/>
              </a:solidFill>
            </a:endParaRPr>
          </a:p>
          <a:p>
            <a:r>
              <a:rPr lang="es-MX" sz="1400" b="1" dirty="0">
                <a:solidFill>
                  <a:schemeClr val="bg1"/>
                </a:solidFill>
              </a:rPr>
              <a:t>-</a:t>
            </a:r>
            <a:r>
              <a:rPr lang="es-MX" sz="1400" b="1" dirty="0">
                <a:solidFill>
                  <a:schemeClr val="bg1"/>
                </a:solidFill>
                <a:hlinkClick r:id="rId3" action="ppaction://hlinksldjump"/>
              </a:rPr>
              <a:t>Ver detalle</a:t>
            </a:r>
            <a:endParaRPr lang="es-MX" sz="1400" b="1" dirty="0">
              <a:solidFill>
                <a:schemeClr val="bg1"/>
              </a:solidFill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2339752" y="3321390"/>
            <a:ext cx="1152128" cy="1296145"/>
          </a:xfrm>
          <a:prstGeom prst="roundRect">
            <a:avLst/>
          </a:prstGeom>
          <a:solidFill>
            <a:srgbClr val="3333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</a:rPr>
              <a:t>REC. CVES</a:t>
            </a:r>
          </a:p>
          <a:p>
            <a:endParaRPr lang="es-MX" sz="1600" b="1" dirty="0">
              <a:solidFill>
                <a:schemeClr val="bg1"/>
              </a:solidFill>
            </a:endParaRPr>
          </a:p>
          <a:p>
            <a:r>
              <a:rPr lang="es-MX" sz="1400" b="1" dirty="0">
                <a:solidFill>
                  <a:schemeClr val="bg1"/>
                </a:solidFill>
              </a:rPr>
              <a:t>-</a:t>
            </a:r>
            <a:r>
              <a:rPr lang="es-MX" sz="1400" b="1" dirty="0">
                <a:solidFill>
                  <a:schemeClr val="bg1"/>
                </a:solidFill>
                <a:hlinkClick r:id="rId8" action="ppaction://hlinksldjump"/>
              </a:rPr>
              <a:t>Ver detalle</a:t>
            </a:r>
            <a:endParaRPr lang="es-MX" sz="1400" b="1" dirty="0">
              <a:solidFill>
                <a:schemeClr val="bg1"/>
              </a:solidFill>
            </a:endParaRPr>
          </a:p>
        </p:txBody>
      </p:sp>
      <p:sp>
        <p:nvSpPr>
          <p:cNvPr id="14" name="13 Bisel">
            <a:hlinkClick r:id="rId9" action="ppaction://hlinksldjump"/>
          </p:cNvPr>
          <p:cNvSpPr/>
          <p:nvPr/>
        </p:nvSpPr>
        <p:spPr>
          <a:xfrm>
            <a:off x="755576" y="6381328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151091817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1619672" y="1484784"/>
            <a:ext cx="6048672" cy="4824536"/>
          </a:xfrm>
          <a:prstGeom prst="roundRect">
            <a:avLst/>
          </a:prstGeom>
          <a:solidFill>
            <a:srgbClr val="3333FF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Segmentos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766683"/>
            <a:ext cx="1433885" cy="1590309"/>
          </a:xfrm>
          <a:prstGeom prst="rect">
            <a:avLst/>
          </a:prstGeom>
        </p:spPr>
      </p:pic>
      <p:sp>
        <p:nvSpPr>
          <p:cNvPr id="10" name="9 CuadroTexto"/>
          <p:cNvSpPr txBox="1"/>
          <p:nvPr/>
        </p:nvSpPr>
        <p:spPr>
          <a:xfrm>
            <a:off x="6101729" y="5163035"/>
            <a:ext cx="1119602" cy="498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s-MX" b="1" dirty="0"/>
              <a:t>Negocios</a:t>
            </a:r>
          </a:p>
          <a:p>
            <a:pPr algn="ctr">
              <a:lnSpc>
                <a:spcPts val="1500"/>
              </a:lnSpc>
            </a:pPr>
            <a:r>
              <a:rPr lang="es-MX" b="1" dirty="0"/>
              <a:t>Pequeños</a:t>
            </a:r>
          </a:p>
        </p:txBody>
      </p:sp>
      <p:pic>
        <p:nvPicPr>
          <p:cNvPr id="2050" name="Picture 2" descr="C:\Users\Olivier\Music\Elizondo\Modificaciones\Imagenes\panaderias.jpg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278329"/>
            <a:ext cx="1487732" cy="98345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2172359" y="5147900"/>
            <a:ext cx="1236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b="1" dirty="0"/>
              <a:t>Panaderías</a:t>
            </a:r>
          </a:p>
        </p:txBody>
      </p:sp>
      <p:pic>
        <p:nvPicPr>
          <p:cNvPr id="2051" name="Picture 3" descr="C:\Users\Olivier\Music\Elizondo\Modificaciones\Imagenes\Foto-resonantz.jpg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272486"/>
            <a:ext cx="1476375" cy="98345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CuadroTexto"/>
          <p:cNvSpPr txBox="1"/>
          <p:nvPr/>
        </p:nvSpPr>
        <p:spPr>
          <a:xfrm>
            <a:off x="5953718" y="3491716"/>
            <a:ext cx="1357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b="1" dirty="0"/>
              <a:t>Industriales</a:t>
            </a:r>
          </a:p>
        </p:txBody>
      </p:sp>
      <p:pic>
        <p:nvPicPr>
          <p:cNvPr id="2052" name="Picture 4" descr="C:\Users\Olivier\Music\Elizondo\Modificaciones\Imagenes\parque-industrial.jpg">
            <a:hlinkClick r:id="rId7" action="ppaction://hlinksldjump"/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466" y="2636912"/>
            <a:ext cx="1476375" cy="9734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2154030" y="3491716"/>
            <a:ext cx="124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Mayoristas</a:t>
            </a:r>
          </a:p>
        </p:txBody>
      </p:sp>
      <p:pic>
        <p:nvPicPr>
          <p:cNvPr id="2053" name="Picture 5" descr="C:\Users\Olivier\Music\Elizondo\Modificaciones\Imagenes\harina.jpg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646203"/>
            <a:ext cx="1476375" cy="97345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CuadroTexto"/>
          <p:cNvSpPr txBox="1"/>
          <p:nvPr/>
        </p:nvSpPr>
        <p:spPr>
          <a:xfrm>
            <a:off x="4153272" y="4665541"/>
            <a:ext cx="126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b="1" dirty="0"/>
              <a:t>Tortillerías</a:t>
            </a:r>
          </a:p>
        </p:txBody>
      </p:sp>
      <p:pic>
        <p:nvPicPr>
          <p:cNvPr id="12" name="11 Imagen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682" y="3789040"/>
            <a:ext cx="1441414" cy="9734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22 Bisel">
            <a:hlinkClick r:id="rId13" action="ppaction://hlinksldjump"/>
          </p:cNvPr>
          <p:cNvSpPr/>
          <p:nvPr/>
        </p:nvSpPr>
        <p:spPr>
          <a:xfrm>
            <a:off x="755576" y="6093296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Índice</a:t>
            </a:r>
          </a:p>
        </p:txBody>
      </p:sp>
      <p:sp>
        <p:nvSpPr>
          <p:cNvPr id="24" name="23 Bisel">
            <a:hlinkClick r:id="rId14" action="ppaction://hlinksldjump"/>
          </p:cNvPr>
          <p:cNvSpPr/>
          <p:nvPr/>
        </p:nvSpPr>
        <p:spPr>
          <a:xfrm>
            <a:off x="755576" y="6381328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2204378550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Mayoristas: Características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Comercializa los productos</a:t>
            </a:r>
          </a:p>
          <a:p>
            <a:r>
              <a:rPr lang="es-MX" dirty="0"/>
              <a:t>Volumen: 200 bultos, mínimo</a:t>
            </a:r>
          </a:p>
          <a:p>
            <a:r>
              <a:rPr lang="es-MX" dirty="0"/>
              <a:t>Pueden recoger el producto en planta</a:t>
            </a:r>
          </a:p>
          <a:p>
            <a:r>
              <a:rPr lang="es-MX" dirty="0"/>
              <a:t>Negociación sobre precio </a:t>
            </a:r>
            <a:r>
              <a:rPr lang="es-MX" i="1" dirty="0"/>
              <a:t>spot</a:t>
            </a:r>
          </a:p>
          <a:p>
            <a:r>
              <a:rPr lang="es-MX" dirty="0"/>
              <a:t>Condiciones flexibles ante cambios de precio</a:t>
            </a:r>
          </a:p>
          <a:p>
            <a:r>
              <a:rPr lang="es-MX" dirty="0"/>
              <a:t>La marca es más importante que en el resto de los segmentos debido a que sus clientes se las solicita</a:t>
            </a:r>
          </a:p>
          <a:p>
            <a:r>
              <a:rPr lang="es-MX" dirty="0"/>
              <a:t>Solicita servicios especiales para la entrega</a:t>
            </a:r>
          </a:p>
          <a:p>
            <a:r>
              <a:rPr lang="es-MX" dirty="0"/>
              <a:t>El harina funciona como producto gancho</a:t>
            </a:r>
          </a:p>
          <a:p>
            <a:r>
              <a:rPr lang="es-MX" dirty="0"/>
              <a:t>Solicitan crédito para generar capital de trabajo</a:t>
            </a:r>
          </a:p>
          <a:p>
            <a:r>
              <a:rPr lang="es-MX" dirty="0"/>
              <a:t>Mayor riesgo de cobranza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7" name="6 Bisel">
            <a:hlinkClick r:id="rId2" action="ppaction://hlinksldjump"/>
          </p:cNvPr>
          <p:cNvSpPr/>
          <p:nvPr/>
        </p:nvSpPr>
        <p:spPr>
          <a:xfrm>
            <a:off x="755576" y="6093296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Índice</a:t>
            </a:r>
          </a:p>
        </p:txBody>
      </p:sp>
      <p:sp>
        <p:nvSpPr>
          <p:cNvPr id="8" name="7 Bisel">
            <a:hlinkClick r:id="rId3" action="ppaction://hlinksldjump"/>
          </p:cNvPr>
          <p:cNvSpPr/>
          <p:nvPr/>
        </p:nvSpPr>
        <p:spPr>
          <a:xfrm>
            <a:off x="755576" y="6381328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3494997607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Industriales: Características(1)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MX" dirty="0"/>
              <a:t>Solicitan producto con base en una especificación interna</a:t>
            </a:r>
          </a:p>
          <a:p>
            <a:r>
              <a:rPr lang="es-MX" dirty="0"/>
              <a:t>Existe una transformación del producto</a:t>
            </a:r>
          </a:p>
          <a:p>
            <a:r>
              <a:rPr lang="es-MX" dirty="0"/>
              <a:t>Los proveedores deben cumplir con políticas internas</a:t>
            </a:r>
          </a:p>
          <a:p>
            <a:pPr lvl="1"/>
            <a:r>
              <a:rPr lang="es-MX" dirty="0"/>
              <a:t>Transporte</a:t>
            </a:r>
          </a:p>
          <a:p>
            <a:pPr lvl="1"/>
            <a:r>
              <a:rPr lang="es-MX" dirty="0"/>
              <a:t>Personal</a:t>
            </a:r>
          </a:p>
          <a:p>
            <a:pPr lvl="1"/>
            <a:r>
              <a:rPr lang="es-MX" dirty="0"/>
              <a:t>Compras</a:t>
            </a:r>
          </a:p>
          <a:p>
            <a:pPr lvl="1"/>
            <a:r>
              <a:rPr lang="es-MX" dirty="0"/>
              <a:t>Facturación</a:t>
            </a:r>
          </a:p>
          <a:p>
            <a:pPr lvl="1"/>
            <a:r>
              <a:rPr lang="es-MX" dirty="0"/>
              <a:t>Certificados de calidad</a:t>
            </a:r>
          </a:p>
          <a:p>
            <a:pPr lvl="1"/>
            <a:r>
              <a:rPr lang="es-MX" dirty="0"/>
              <a:t>Hojas de fumigación</a:t>
            </a:r>
          </a:p>
          <a:p>
            <a:pPr lvl="1"/>
            <a:r>
              <a:rPr lang="es-MX" dirty="0"/>
              <a:t>Horarios de entrega</a:t>
            </a:r>
          </a:p>
          <a:p>
            <a:pPr lvl="1"/>
            <a:r>
              <a:rPr lang="es-MX" dirty="0"/>
              <a:t>Auditorías de calidad</a:t>
            </a:r>
          </a:p>
          <a:p>
            <a:r>
              <a:rPr lang="es-MX" dirty="0"/>
              <a:t>Poseen mayor conocimiento de las características del producto</a:t>
            </a:r>
          </a:p>
          <a:p>
            <a:r>
              <a:rPr lang="es-MX" dirty="0"/>
              <a:t>Contacto con dos o más personas:</a:t>
            </a:r>
          </a:p>
          <a:p>
            <a:pPr lvl="1"/>
            <a:r>
              <a:rPr lang="es-MX" dirty="0"/>
              <a:t>Compras: características técnicas del producto</a:t>
            </a:r>
          </a:p>
          <a:p>
            <a:pPr lvl="1"/>
            <a:r>
              <a:rPr lang="es-MX" dirty="0"/>
              <a:t>Almacén: cargas, horarios</a:t>
            </a:r>
          </a:p>
          <a:p>
            <a:pPr lvl="1"/>
            <a:r>
              <a:rPr lang="es-MX" dirty="0"/>
              <a:t>Control de calidad</a:t>
            </a:r>
          </a:p>
          <a:p>
            <a:pPr lvl="1"/>
            <a:r>
              <a:rPr lang="es-MX" dirty="0"/>
              <a:t>Cuentas x Pagar</a:t>
            </a:r>
          </a:p>
        </p:txBody>
      </p:sp>
      <p:sp>
        <p:nvSpPr>
          <p:cNvPr id="6" name="5 Bisel">
            <a:hlinkClick r:id="rId2" action="ppaction://hlinksldjump"/>
          </p:cNvPr>
          <p:cNvSpPr/>
          <p:nvPr/>
        </p:nvSpPr>
        <p:spPr>
          <a:xfrm>
            <a:off x="755576" y="6093296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Índice</a:t>
            </a:r>
          </a:p>
        </p:txBody>
      </p:sp>
      <p:sp>
        <p:nvSpPr>
          <p:cNvPr id="7" name="6 Bisel">
            <a:hlinkClick r:id="rId3" action="ppaction://hlinksldjump"/>
          </p:cNvPr>
          <p:cNvSpPr/>
          <p:nvPr/>
        </p:nvSpPr>
        <p:spPr>
          <a:xfrm>
            <a:off x="755576" y="6381328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95847475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Industriales: Características(2)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Cada cliente tiene requisitos especiales y no son flexibles ante cambio en las condiciones hacia FHESA</a:t>
            </a:r>
          </a:p>
          <a:p>
            <a:r>
              <a:rPr lang="es-MX" dirty="0"/>
              <a:t>Existen contratos a más largo plazo</a:t>
            </a:r>
          </a:p>
          <a:p>
            <a:r>
              <a:rPr lang="es-MX" dirty="0"/>
              <a:t>Compran de acuerdo a un modelo de precios</a:t>
            </a:r>
          </a:p>
          <a:p>
            <a:r>
              <a:rPr lang="es-MX" dirty="0"/>
              <a:t>Calidad y servicio no son negociables; el precio se negocia y es determinante</a:t>
            </a:r>
          </a:p>
          <a:p>
            <a:r>
              <a:rPr lang="es-MX" dirty="0"/>
              <a:t>Volúmenes grandes</a:t>
            </a:r>
          </a:p>
          <a:p>
            <a:r>
              <a:rPr lang="es-MX" dirty="0"/>
              <a:t>Pagan a tiempo</a:t>
            </a:r>
          </a:p>
        </p:txBody>
      </p:sp>
      <p:sp>
        <p:nvSpPr>
          <p:cNvPr id="6" name="5 Bisel">
            <a:hlinkClick r:id="rId2" action="ppaction://hlinksldjump"/>
          </p:cNvPr>
          <p:cNvSpPr/>
          <p:nvPr/>
        </p:nvSpPr>
        <p:spPr>
          <a:xfrm>
            <a:off x="755576" y="6093296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Índice</a:t>
            </a:r>
          </a:p>
        </p:txBody>
      </p:sp>
      <p:sp>
        <p:nvSpPr>
          <p:cNvPr id="7" name="6 Bisel">
            <a:hlinkClick r:id="rId3" action="ppaction://hlinksldjump"/>
          </p:cNvPr>
          <p:cNvSpPr/>
          <p:nvPr/>
        </p:nvSpPr>
        <p:spPr>
          <a:xfrm>
            <a:off x="755576" y="6381328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4112583020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Panaderías: Sub-segmentos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MX" dirty="0"/>
              <a:t>Autoservicios</a:t>
            </a:r>
          </a:p>
          <a:p>
            <a:r>
              <a:rPr lang="es-MX" dirty="0"/>
              <a:t>Cadenas</a:t>
            </a:r>
          </a:p>
          <a:p>
            <a:r>
              <a:rPr lang="es-MX" dirty="0"/>
              <a:t>Panaderías familiares</a:t>
            </a:r>
          </a:p>
        </p:txBody>
      </p:sp>
      <p:sp>
        <p:nvSpPr>
          <p:cNvPr id="6" name="5 Bisel">
            <a:hlinkClick r:id="rId2" action="ppaction://hlinksldjump"/>
          </p:cNvPr>
          <p:cNvSpPr/>
          <p:nvPr/>
        </p:nvSpPr>
        <p:spPr>
          <a:xfrm>
            <a:off x="755576" y="6093296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Índice</a:t>
            </a:r>
          </a:p>
        </p:txBody>
      </p:sp>
      <p:sp>
        <p:nvSpPr>
          <p:cNvPr id="7" name="6 Bisel">
            <a:hlinkClick r:id="rId3" action="ppaction://hlinksldjump"/>
          </p:cNvPr>
          <p:cNvSpPr/>
          <p:nvPr/>
        </p:nvSpPr>
        <p:spPr>
          <a:xfrm>
            <a:off x="755576" y="6381328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374258416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dirty="0"/>
              <a:t>Panadería: </a:t>
            </a:r>
            <a:br>
              <a:rPr lang="es-MX" b="1" dirty="0"/>
            </a:br>
            <a:r>
              <a:rPr lang="es-MX" b="1" dirty="0"/>
              <a:t>Características-Autoservicios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/>
              <a:t>Cadenas comerciales con grandes superficies donde la panadería es una parte de su negocio</a:t>
            </a:r>
          </a:p>
          <a:p>
            <a:r>
              <a:rPr lang="es-MX" dirty="0"/>
              <a:t>En la compra se comportan como el segmento Industrial</a:t>
            </a:r>
          </a:p>
          <a:p>
            <a:pPr lvl="1"/>
            <a:r>
              <a:rPr lang="es-MX" dirty="0"/>
              <a:t>El trato es con un Comprador especializado</a:t>
            </a:r>
          </a:p>
          <a:p>
            <a:pPr lvl="1"/>
            <a:r>
              <a:rPr lang="es-MX" dirty="0"/>
              <a:t>FHESA debe sujetarse a políticas internas del Autoservicio</a:t>
            </a:r>
          </a:p>
          <a:p>
            <a:r>
              <a:rPr lang="es-MX" dirty="0"/>
              <a:t>El pan es un producto gancho</a:t>
            </a:r>
          </a:p>
          <a:p>
            <a:r>
              <a:rPr lang="es-MX" dirty="0"/>
              <a:t>Inflexibles ante aumentos de precio</a:t>
            </a:r>
          </a:p>
          <a:p>
            <a:r>
              <a:rPr lang="es-MX" dirty="0"/>
              <a:t>Solicitan certificados de calidad</a:t>
            </a:r>
          </a:p>
          <a:p>
            <a:r>
              <a:rPr lang="es-MX" dirty="0"/>
              <a:t>Condiciones de crédito</a:t>
            </a:r>
          </a:p>
          <a:p>
            <a:r>
              <a:rPr lang="es-MX" dirty="0"/>
              <a:t>Alto volumen de compra pero la distribución es en poco volumen y a nivel nacional</a:t>
            </a:r>
          </a:p>
          <a:p>
            <a:r>
              <a:rPr lang="es-MX" dirty="0"/>
              <a:t>Apoyo post-venta (servicio técnico)</a:t>
            </a:r>
          </a:p>
          <a:p>
            <a:endParaRPr lang="es-MX" dirty="0"/>
          </a:p>
        </p:txBody>
      </p:sp>
      <p:sp>
        <p:nvSpPr>
          <p:cNvPr id="6" name="5 Bisel">
            <a:hlinkClick r:id="rId2" action="ppaction://hlinksldjump"/>
          </p:cNvPr>
          <p:cNvSpPr/>
          <p:nvPr/>
        </p:nvSpPr>
        <p:spPr>
          <a:xfrm>
            <a:off x="755576" y="6093296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Índice</a:t>
            </a:r>
          </a:p>
        </p:txBody>
      </p:sp>
      <p:sp>
        <p:nvSpPr>
          <p:cNvPr id="7" name="6 Bisel">
            <a:hlinkClick r:id="rId3" action="ppaction://hlinksldjump"/>
          </p:cNvPr>
          <p:cNvSpPr/>
          <p:nvPr/>
        </p:nvSpPr>
        <p:spPr>
          <a:xfrm>
            <a:off x="755576" y="6381328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1962153155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dirty="0"/>
              <a:t>Panadería: Características-Cadenas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Transformación del producto a pan</a:t>
            </a:r>
          </a:p>
          <a:p>
            <a:r>
              <a:rPr lang="es-MX" dirty="0"/>
              <a:t>Trato personalizado hacia el dueño</a:t>
            </a:r>
          </a:p>
          <a:p>
            <a:r>
              <a:rPr lang="es-MX" dirty="0"/>
              <a:t>La marca y el servicio es importante</a:t>
            </a:r>
          </a:p>
          <a:p>
            <a:r>
              <a:rPr lang="es-MX" dirty="0"/>
              <a:t>Al menos con 2 panaderías </a:t>
            </a:r>
          </a:p>
          <a:p>
            <a:r>
              <a:rPr lang="es-MX" dirty="0"/>
              <a:t>Apoyo promocional </a:t>
            </a:r>
          </a:p>
          <a:p>
            <a:r>
              <a:rPr lang="es-MX" dirty="0"/>
              <a:t>Burocráticos en lo administrativo</a:t>
            </a:r>
          </a:p>
          <a:p>
            <a:r>
              <a:rPr lang="es-MX" dirty="0"/>
              <a:t>Fabricación en cada punto de venta, la entrega es directa en cada local</a:t>
            </a:r>
          </a:p>
          <a:p>
            <a:r>
              <a:rPr lang="es-MX" dirty="0"/>
              <a:t>Volumen alto de compra</a:t>
            </a:r>
          </a:p>
          <a:p>
            <a:r>
              <a:rPr lang="es-MX" dirty="0"/>
              <a:t>Poca presencia de FHESA en este </a:t>
            </a:r>
            <a:r>
              <a:rPr lang="es-MX" dirty="0" err="1"/>
              <a:t>subsegmento</a:t>
            </a:r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sp>
        <p:nvSpPr>
          <p:cNvPr id="6" name="5 Bisel">
            <a:hlinkClick r:id="rId2" action="ppaction://hlinksldjump"/>
          </p:cNvPr>
          <p:cNvSpPr/>
          <p:nvPr/>
        </p:nvSpPr>
        <p:spPr>
          <a:xfrm>
            <a:off x="755576" y="6093296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Índice</a:t>
            </a:r>
          </a:p>
        </p:txBody>
      </p:sp>
      <p:sp>
        <p:nvSpPr>
          <p:cNvPr id="7" name="6 Bisel">
            <a:hlinkClick r:id="rId3" action="ppaction://hlinksldjump"/>
          </p:cNvPr>
          <p:cNvSpPr/>
          <p:nvPr/>
        </p:nvSpPr>
        <p:spPr>
          <a:xfrm>
            <a:off x="755576" y="6381328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2901946516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dirty="0"/>
              <a:t>Panadería: </a:t>
            </a:r>
            <a:br>
              <a:rPr lang="es-MX" b="1" dirty="0"/>
            </a:br>
            <a:r>
              <a:rPr lang="es-MX" b="1" dirty="0"/>
              <a:t>Características-Panaderías Familiares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Transformación del producto a pan</a:t>
            </a:r>
          </a:p>
          <a:p>
            <a:r>
              <a:rPr lang="es-MX" dirty="0"/>
              <a:t>Trato personalizado hacia el dueño</a:t>
            </a:r>
          </a:p>
          <a:p>
            <a:r>
              <a:rPr lang="es-MX" dirty="0"/>
              <a:t>La marca y el servicio es importante, más que en los segmentos anteriores</a:t>
            </a:r>
          </a:p>
          <a:p>
            <a:r>
              <a:rPr lang="es-MX" dirty="0"/>
              <a:t>Forma de trabajo más artesanal</a:t>
            </a:r>
          </a:p>
          <a:p>
            <a:r>
              <a:rPr lang="es-MX" dirty="0"/>
              <a:t>Poseen menores recursos</a:t>
            </a:r>
          </a:p>
          <a:p>
            <a:r>
              <a:rPr lang="es-MX" dirty="0"/>
              <a:t>Hay pequeñas, medianas y grandes</a:t>
            </a:r>
          </a:p>
          <a:p>
            <a:r>
              <a:rPr lang="es-MX" dirty="0"/>
              <a:t>Compran distintos volúmenes, desde 50 hasta 1,000 sacos</a:t>
            </a:r>
          </a:p>
          <a:p>
            <a:r>
              <a:rPr lang="es-MX" dirty="0"/>
              <a:t>La calidad es lo más importante</a:t>
            </a:r>
          </a:p>
          <a:p>
            <a:r>
              <a:rPr lang="es-MX" dirty="0"/>
              <a:t>Menor poder de negociación</a:t>
            </a:r>
          </a:p>
          <a:p>
            <a:r>
              <a:rPr lang="es-MX" dirty="0"/>
              <a:t>El costo de distribución es menor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6" name="5 Bisel">
            <a:hlinkClick r:id="rId2" action="ppaction://hlinksldjump"/>
          </p:cNvPr>
          <p:cNvSpPr/>
          <p:nvPr/>
        </p:nvSpPr>
        <p:spPr>
          <a:xfrm>
            <a:off x="755576" y="6093296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Índice</a:t>
            </a:r>
          </a:p>
        </p:txBody>
      </p:sp>
      <p:sp>
        <p:nvSpPr>
          <p:cNvPr id="7" name="6 Bisel">
            <a:hlinkClick r:id="rId3" action="ppaction://hlinksldjump"/>
          </p:cNvPr>
          <p:cNvSpPr/>
          <p:nvPr/>
        </p:nvSpPr>
        <p:spPr>
          <a:xfrm>
            <a:off x="755576" y="6381328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2351120566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dirty="0"/>
              <a:t>Negocios Pequeños: Características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 dirty="0"/>
              <a:t>Consumo y la entrega son cantidades pequeñas</a:t>
            </a:r>
          </a:p>
          <a:p>
            <a:r>
              <a:rPr lang="es-MX" dirty="0"/>
              <a:t>Distintos giros</a:t>
            </a:r>
          </a:p>
          <a:p>
            <a:pPr lvl="1"/>
            <a:r>
              <a:rPr lang="es-MX" dirty="0"/>
              <a:t>Restaurantes</a:t>
            </a:r>
          </a:p>
          <a:p>
            <a:pPr lvl="1"/>
            <a:r>
              <a:rPr lang="es-MX" dirty="0"/>
              <a:t>Pizzerías</a:t>
            </a:r>
          </a:p>
          <a:p>
            <a:pPr lvl="1"/>
            <a:r>
              <a:rPr lang="es-MX" dirty="0"/>
              <a:t>Hoteles</a:t>
            </a:r>
          </a:p>
          <a:p>
            <a:pPr lvl="1"/>
            <a:r>
              <a:rPr lang="es-MX" dirty="0"/>
              <a:t>Amas de casa</a:t>
            </a:r>
          </a:p>
          <a:p>
            <a:pPr lvl="1"/>
            <a:r>
              <a:rPr lang="es-MX" dirty="0"/>
              <a:t>Pastelerías</a:t>
            </a:r>
          </a:p>
          <a:p>
            <a:pPr lvl="1"/>
            <a:r>
              <a:rPr lang="es-MX" dirty="0"/>
              <a:t>Cafeterías</a:t>
            </a:r>
          </a:p>
          <a:p>
            <a:r>
              <a:rPr lang="es-MX" dirty="0"/>
              <a:t>Distribución con restricciones: equipo pequeño en horarios específicos</a:t>
            </a:r>
          </a:p>
          <a:p>
            <a:r>
              <a:rPr lang="es-MX" dirty="0"/>
              <a:t>La distribución se traslada hacia el precio</a:t>
            </a:r>
          </a:p>
          <a:p>
            <a:r>
              <a:rPr lang="es-MX" dirty="0"/>
              <a:t>Menos sensible al precio</a:t>
            </a:r>
          </a:p>
          <a:p>
            <a:r>
              <a:rPr lang="es-MX" dirty="0"/>
              <a:t>La marca y servicio es importante</a:t>
            </a:r>
          </a:p>
          <a:p>
            <a:r>
              <a:rPr lang="es-MX" dirty="0"/>
              <a:t>Una proporción importante se cobra de contado</a:t>
            </a:r>
          </a:p>
        </p:txBody>
      </p:sp>
      <p:sp>
        <p:nvSpPr>
          <p:cNvPr id="6" name="5 Bisel">
            <a:hlinkClick r:id="rId2" action="ppaction://hlinksldjump"/>
          </p:cNvPr>
          <p:cNvSpPr/>
          <p:nvPr/>
        </p:nvSpPr>
        <p:spPr>
          <a:xfrm>
            <a:off x="755576" y="6093296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Índice</a:t>
            </a:r>
          </a:p>
        </p:txBody>
      </p:sp>
      <p:sp>
        <p:nvSpPr>
          <p:cNvPr id="7" name="6 Bisel">
            <a:hlinkClick r:id="rId3" action="ppaction://hlinksldjump"/>
          </p:cNvPr>
          <p:cNvSpPr/>
          <p:nvPr/>
        </p:nvSpPr>
        <p:spPr>
          <a:xfrm>
            <a:off x="755576" y="6381328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770210722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Tortillerías: Características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Transformación del producto a tortilla</a:t>
            </a:r>
          </a:p>
          <a:p>
            <a:r>
              <a:rPr lang="es-MX" dirty="0"/>
              <a:t>Trato personalizado hacia el dueño</a:t>
            </a:r>
          </a:p>
          <a:p>
            <a:r>
              <a:rPr lang="es-MX" dirty="0"/>
              <a:t>La marca y el servicio es importante, más que en los segmentos anteriores</a:t>
            </a:r>
          </a:p>
          <a:p>
            <a:r>
              <a:rPr lang="es-MX" dirty="0"/>
              <a:t>Hay pequeñas, medianas y grandes</a:t>
            </a:r>
          </a:p>
          <a:p>
            <a:r>
              <a:rPr lang="es-MX" dirty="0"/>
              <a:t>Compran distintos volúmenes, desde 50 hasta 1,000 sacos</a:t>
            </a:r>
          </a:p>
          <a:p>
            <a:r>
              <a:rPr lang="es-MX" dirty="0"/>
              <a:t>La calidad es lo más importante, solicitan especificaciones técnicas aunque la solicitan en términos empíricos</a:t>
            </a:r>
          </a:p>
          <a:p>
            <a:r>
              <a:rPr lang="es-MX" dirty="0"/>
              <a:t>Menor poder de negociación</a:t>
            </a:r>
          </a:p>
          <a:p>
            <a:r>
              <a:rPr lang="es-MX" dirty="0"/>
              <a:t>La competencia es menor que en otros segmentos</a:t>
            </a:r>
          </a:p>
          <a:p>
            <a:endParaRPr lang="es-MX" dirty="0"/>
          </a:p>
        </p:txBody>
      </p:sp>
      <p:sp>
        <p:nvSpPr>
          <p:cNvPr id="6" name="5 Bisel">
            <a:hlinkClick r:id="rId2" action="ppaction://hlinksldjump"/>
          </p:cNvPr>
          <p:cNvSpPr/>
          <p:nvPr/>
        </p:nvSpPr>
        <p:spPr>
          <a:xfrm>
            <a:off x="755576" y="6093296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Índice</a:t>
            </a:r>
          </a:p>
        </p:txBody>
      </p:sp>
      <p:sp>
        <p:nvSpPr>
          <p:cNvPr id="7" name="6 Bisel">
            <a:hlinkClick r:id="rId3" action="ppaction://hlinksldjump"/>
          </p:cNvPr>
          <p:cNvSpPr/>
          <p:nvPr/>
        </p:nvSpPr>
        <p:spPr>
          <a:xfrm>
            <a:off x="755576" y="6381328"/>
            <a:ext cx="936104" cy="288032"/>
          </a:xfrm>
          <a:prstGeom prst="bevel">
            <a:avLst/>
          </a:prstGeom>
          <a:solidFill>
            <a:srgbClr val="3333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2206666833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Actividades Clave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MX" dirty="0"/>
              <a:t>Abasto de Trigo</a:t>
            </a:r>
          </a:p>
          <a:p>
            <a:r>
              <a:rPr lang="es-MX" dirty="0"/>
              <a:t>Proceso de Transformación</a:t>
            </a:r>
          </a:p>
          <a:p>
            <a:r>
              <a:rPr lang="es-MX" dirty="0"/>
              <a:t>Proceso Comercial</a:t>
            </a:r>
          </a:p>
          <a:p>
            <a:r>
              <a:rPr lang="es-MX" dirty="0"/>
              <a:t>Proceso de Logística</a:t>
            </a:r>
          </a:p>
          <a:p>
            <a:r>
              <a:rPr lang="es-MX" dirty="0"/>
              <a:t>Proceso de Aseguramiento de Calidad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23413590"/>
      </p:ext>
    </p:extLst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Recursos Clave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MX" dirty="0"/>
              <a:t>Marca</a:t>
            </a:r>
          </a:p>
          <a:p>
            <a:r>
              <a:rPr lang="es-MX" dirty="0"/>
              <a:t>Infraestructura</a:t>
            </a:r>
          </a:p>
          <a:p>
            <a:pPr lvl="1"/>
            <a:r>
              <a:rPr lang="es-MX" dirty="0"/>
              <a:t>Molino</a:t>
            </a:r>
          </a:p>
          <a:p>
            <a:pPr lvl="1"/>
            <a:r>
              <a:rPr lang="es-MX" dirty="0"/>
              <a:t>Tecnología</a:t>
            </a:r>
          </a:p>
          <a:p>
            <a:pPr lvl="1"/>
            <a:r>
              <a:rPr lang="es-MX" dirty="0"/>
              <a:t>Transporte</a:t>
            </a:r>
          </a:p>
          <a:p>
            <a:r>
              <a:rPr lang="es-MX" dirty="0"/>
              <a:t>Personal</a:t>
            </a:r>
          </a:p>
          <a:p>
            <a:r>
              <a:rPr lang="es-MX" dirty="0"/>
              <a:t>Recursos Financieros</a:t>
            </a:r>
          </a:p>
          <a:p>
            <a:pPr lvl="1"/>
            <a:r>
              <a:rPr lang="es-MX" dirty="0"/>
              <a:t>Capital</a:t>
            </a:r>
          </a:p>
          <a:p>
            <a:pPr lvl="1"/>
            <a:r>
              <a:rPr lang="es-MX" dirty="0"/>
              <a:t>Financiamiento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3042224"/>
      </p:ext>
    </p:extLst>
  </p:cSld>
  <p:clrMapOvr>
    <a:masterClrMapping/>
  </p:clrMapOvr>
  <p:transition spd="slow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Propuesta de Valor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MX" dirty="0"/>
              <a:t>Calidad</a:t>
            </a:r>
          </a:p>
          <a:p>
            <a:pPr lvl="1"/>
            <a:r>
              <a:rPr lang="es-MX" dirty="0"/>
              <a:t>Rendimiento</a:t>
            </a:r>
          </a:p>
          <a:p>
            <a:pPr lvl="1"/>
            <a:r>
              <a:rPr lang="es-MX" dirty="0"/>
              <a:t>Sistemas de Calidad    </a:t>
            </a:r>
          </a:p>
          <a:p>
            <a:r>
              <a:rPr lang="es-MX" dirty="0"/>
              <a:t>Servicio</a:t>
            </a:r>
          </a:p>
          <a:p>
            <a:pPr lvl="1"/>
            <a:r>
              <a:rPr lang="es-MX" dirty="0"/>
              <a:t>Disponibilidad</a:t>
            </a:r>
          </a:p>
          <a:p>
            <a:pPr lvl="1"/>
            <a:r>
              <a:rPr lang="es-MX" dirty="0"/>
              <a:t>Cantidad</a:t>
            </a:r>
          </a:p>
          <a:p>
            <a:pPr lvl="1"/>
            <a:r>
              <a:rPr lang="es-MX" dirty="0"/>
              <a:t>Atención (Transporte y Asesoría Técnica)</a:t>
            </a:r>
          </a:p>
          <a:p>
            <a:r>
              <a:rPr lang="es-MX" dirty="0"/>
              <a:t>Precio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00342969"/>
      </p:ext>
    </p:extLst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Estructura de Costos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marzo de 2026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MX" dirty="0"/>
              <a:t>Trigo</a:t>
            </a:r>
          </a:p>
          <a:p>
            <a:r>
              <a:rPr lang="es-MX" dirty="0"/>
              <a:t>Costales</a:t>
            </a:r>
          </a:p>
          <a:p>
            <a:r>
              <a:rPr lang="es-MX" dirty="0"/>
              <a:t>Electricidad</a:t>
            </a:r>
          </a:p>
          <a:p>
            <a:r>
              <a:rPr lang="es-MX" dirty="0"/>
              <a:t>Transporte</a:t>
            </a:r>
          </a:p>
          <a:p>
            <a:r>
              <a:rPr lang="es-MX" dirty="0"/>
              <a:t>Comisiones de venta</a:t>
            </a:r>
          </a:p>
          <a:p>
            <a:r>
              <a:rPr lang="es-MX" dirty="0"/>
              <a:t>Gastos Administrativos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30862015"/>
      </p:ext>
    </p:extLst>
  </p:cSld>
  <p:clrMapOvr>
    <a:masterClrMapping/>
  </p:clrMapOvr>
  <p:transition spd="slow">
    <p:wipe dir="r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608-FHESA-Plantilla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e8bae3-04fd-4531-a565-fb0311d81b65">
      <Terms xmlns="http://schemas.microsoft.com/office/infopath/2007/PartnerControls"/>
    </lcf76f155ced4ddcb4097134ff3c332f>
    <TaxCatchAll xmlns="2ec65329-4f00-4902-ac85-81fb0dbccde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AD83AED9C59149B983D4B8B409E505" ma:contentTypeVersion="17" ma:contentTypeDescription="Crear nuevo documento." ma:contentTypeScope="" ma:versionID="d644906bc149cccc2740e0cdfe890a5e">
  <xsd:schema xmlns:xsd="http://www.w3.org/2001/XMLSchema" xmlns:xs="http://www.w3.org/2001/XMLSchema" xmlns:p="http://schemas.microsoft.com/office/2006/metadata/properties" xmlns:ns2="d1e8bae3-04fd-4531-a565-fb0311d81b65" xmlns:ns3="2ec65329-4f00-4902-ac85-81fb0dbccde7" targetNamespace="http://schemas.microsoft.com/office/2006/metadata/properties" ma:root="true" ma:fieldsID="30368b1e771535aba595726ae1d75f32" ns2:_="" ns3:_="">
    <xsd:import namespace="d1e8bae3-04fd-4531-a565-fb0311d81b65"/>
    <xsd:import namespace="2ec65329-4f00-4902-ac85-81fb0dbccd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e8bae3-04fd-4531-a565-fb0311d81b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3212059e-99c6-4e7d-8081-b4731dd1de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c65329-4f00-4902-ac85-81fb0dbccde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a0addb9-58db-4100-8d8d-fd7253b44ab0}" ma:internalName="TaxCatchAll" ma:showField="CatchAllData" ma:web="2ec65329-4f00-4902-ac85-81fb0dbccd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B7A66E-9C51-417E-9E0A-78230E87DC1E}">
  <ds:schemaRefs>
    <ds:schemaRef ds:uri="http://schemas.microsoft.com/office/2006/metadata/properties"/>
    <ds:schemaRef ds:uri="http://schemas.microsoft.com/office/infopath/2007/PartnerControls"/>
    <ds:schemaRef ds:uri="d1e8bae3-04fd-4531-a565-fb0311d81b65"/>
    <ds:schemaRef ds:uri="2ec65329-4f00-4902-ac85-81fb0dbccde7"/>
  </ds:schemaRefs>
</ds:datastoreItem>
</file>

<file path=customXml/itemProps2.xml><?xml version="1.0" encoding="utf-8"?>
<ds:datastoreItem xmlns:ds="http://schemas.openxmlformats.org/officeDocument/2006/customXml" ds:itemID="{7630BEE2-7D4B-4702-810E-E200917A21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8F11DD-8235-4A61-AE27-53FB4183771E}"/>
</file>

<file path=docProps/app.xml><?xml version="1.0" encoding="utf-8"?>
<Properties xmlns="http://schemas.openxmlformats.org/officeDocument/2006/extended-properties" xmlns:vt="http://schemas.openxmlformats.org/officeDocument/2006/docPropsVTypes">
  <Template>1608-FHESA-Plantilla</Template>
  <TotalTime>632</TotalTime>
  <Words>987</Words>
  <Application>Microsoft Office PowerPoint</Application>
  <PresentationFormat>On-screen Show (4:3)</PresentationFormat>
  <Paragraphs>258</Paragraphs>
  <Slides>19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1608-FHESA-Plantilla</vt:lpstr>
      <vt:lpstr>1_Diseño personalizado</vt:lpstr>
      <vt:lpstr>Diseño personalizado</vt:lpstr>
      <vt:lpstr>Planeación Estratégica</vt:lpstr>
      <vt:lpstr>Control de versiones</vt:lpstr>
      <vt:lpstr>Índice</vt:lpstr>
      <vt:lpstr>Concepto de Modelo de Negocio</vt:lpstr>
      <vt:lpstr>Modelo de Negocio</vt:lpstr>
      <vt:lpstr>Segmentos</vt:lpstr>
      <vt:lpstr>Mayoristas: Características</vt:lpstr>
      <vt:lpstr>Industriales: Características(1)</vt:lpstr>
      <vt:lpstr>Industriales: Características(2)</vt:lpstr>
      <vt:lpstr>Panaderías: Sub-segmentos</vt:lpstr>
      <vt:lpstr>Panadería:  Características-Autoservicios</vt:lpstr>
      <vt:lpstr>Panadería: Características-Cadenas</vt:lpstr>
      <vt:lpstr>Panadería:  Características-Panaderías Familiares</vt:lpstr>
      <vt:lpstr>Negocios Pequeños: Características</vt:lpstr>
      <vt:lpstr>Tortillerías: Características</vt:lpstr>
      <vt:lpstr>Actividades Clave</vt:lpstr>
      <vt:lpstr>Recursos Clave</vt:lpstr>
      <vt:lpstr>Propuesta de Valor</vt:lpstr>
      <vt:lpstr>Estructura de Costos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Miguel Escobedo</dc:creator>
  <cp:lastModifiedBy>Nicolas Haidar Salazar</cp:lastModifiedBy>
  <cp:revision>65</cp:revision>
  <dcterms:created xsi:type="dcterms:W3CDTF">2016-08-03T15:40:46Z</dcterms:created>
  <dcterms:modified xsi:type="dcterms:W3CDTF">2026-03-18T19:51:47Z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0x010100FDAD83AED9C59149B983D4B8B409E505</vt:lpwstr>
  </property>
  <property fmtid="{D5CDD505-2E9C-101B-9397-08002B2CF9AE}" pid="3" name="Order">
    <vt:r8>5600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MediaServiceImageTags">
    <vt:lpwstr/>
  </property>
</Properties>
</file>