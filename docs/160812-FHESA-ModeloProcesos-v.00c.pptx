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7" r:id="rId2"/>
    <p:sldMasterId id="2147483675" r:id="rId3"/>
  </p:sldMasterIdLst>
  <p:notesMasterIdLst>
    <p:notesMasterId r:id="rId13"/>
  </p:notesMasterIdLst>
  <p:handoutMasterIdLst>
    <p:handoutMasterId r:id="rId14"/>
  </p:handoutMasterIdLst>
  <p:sldIdLst>
    <p:sldId id="622" r:id="rId4"/>
    <p:sldId id="639" r:id="rId5"/>
    <p:sldId id="642" r:id="rId6"/>
    <p:sldId id="643" r:id="rId7"/>
    <p:sldId id="638" r:id="rId8"/>
    <p:sldId id="654" r:id="rId9"/>
    <p:sldId id="655" r:id="rId10"/>
    <p:sldId id="637" r:id="rId11"/>
    <p:sldId id="648" r:id="rId12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haidar" initials="nhs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BCB9FF"/>
    <a:srgbClr val="E9E5FF"/>
    <a:srgbClr val="CC6600"/>
    <a:srgbClr val="993300"/>
    <a:srgbClr val="BAF1FC"/>
    <a:srgbClr val="FF9933"/>
    <a:srgbClr val="FFCC99"/>
    <a:srgbClr val="CBF4F9"/>
    <a:srgbClr val="E4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24" autoAdjust="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08"/>
    </p:cViewPr>
  </p:sorterViewPr>
  <p:notesViewPr>
    <p:cSldViewPr>
      <p:cViewPr varScale="1">
        <p:scale>
          <a:sx n="51" d="100"/>
          <a:sy n="51" d="100"/>
        </p:scale>
        <p:origin x="-2826" y="-102"/>
      </p:cViewPr>
      <p:guideLst>
        <p:guide orient="horz" pos="2957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1027E2-C421-4E31-9F7F-45CC1F44349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D56FC69-2541-43FB-B74E-DC170C2FF04F}">
      <dgm:prSet phldrT="[Texto]"/>
      <dgm:spPr>
        <a:solidFill>
          <a:srgbClr val="3333FF"/>
        </a:solidFill>
        <a:ln>
          <a:solidFill>
            <a:srgbClr val="002060"/>
          </a:solidFill>
        </a:ln>
      </dgm:spPr>
      <dgm:t>
        <a:bodyPr/>
        <a:lstStyle/>
        <a:p>
          <a:r>
            <a:rPr lang="es-MX" dirty="0">
              <a:latin typeface="+mj-lt"/>
            </a:rPr>
            <a:t>Aseguramiento de Calidad</a:t>
          </a:r>
        </a:p>
      </dgm:t>
    </dgm:pt>
    <dgm:pt modelId="{63E1F322-8A43-432F-AED7-2793E75F7073}" type="parTrans" cxnId="{636472CC-0DC8-4324-A2CB-214951BFB142}">
      <dgm:prSet/>
      <dgm:spPr/>
      <dgm:t>
        <a:bodyPr/>
        <a:lstStyle/>
        <a:p>
          <a:endParaRPr lang="es-MX"/>
        </a:p>
      </dgm:t>
    </dgm:pt>
    <dgm:pt modelId="{E10927E0-53C5-40B2-9E8C-2495A31437A5}" type="sibTrans" cxnId="{636472CC-0DC8-4324-A2CB-214951BFB142}">
      <dgm:prSet/>
      <dgm:spPr/>
      <dgm:t>
        <a:bodyPr/>
        <a:lstStyle/>
        <a:p>
          <a:endParaRPr lang="es-MX"/>
        </a:p>
      </dgm:t>
    </dgm:pt>
    <dgm:pt modelId="{B98F8087-707A-4941-9F4E-1C306E273A33}">
      <dgm:prSet phldrT="[Texto]"/>
      <dgm:spPr>
        <a:solidFill>
          <a:srgbClr val="3333FF"/>
        </a:solidFill>
        <a:ln>
          <a:solidFill>
            <a:srgbClr val="002060"/>
          </a:solidFill>
        </a:ln>
      </dgm:spPr>
      <dgm:t>
        <a:bodyPr/>
        <a:lstStyle/>
        <a:p>
          <a:r>
            <a:rPr lang="es-MX" dirty="0">
              <a:latin typeface="+mj-lt"/>
            </a:rPr>
            <a:t>Control de Calidad</a:t>
          </a:r>
        </a:p>
      </dgm:t>
    </dgm:pt>
    <dgm:pt modelId="{CB8B2086-7D65-4D77-B742-592CFB381A45}" type="parTrans" cxnId="{69F51855-829E-4173-B998-ED4E299333B3}">
      <dgm:prSet/>
      <dgm:spPr>
        <a:ln w="28575">
          <a:solidFill>
            <a:schemeClr val="bg1">
              <a:lumMod val="50000"/>
            </a:schemeClr>
          </a:solidFill>
          <a:headEnd type="none" w="med" len="med"/>
          <a:tailEnd type="arrow" w="med" len="med"/>
        </a:ln>
      </dgm:spPr>
      <dgm:t>
        <a:bodyPr/>
        <a:lstStyle/>
        <a:p>
          <a:endParaRPr lang="es-MX"/>
        </a:p>
      </dgm:t>
    </dgm:pt>
    <dgm:pt modelId="{599AC8C8-0509-4FFA-B38E-753F450B488C}" type="sibTrans" cxnId="{69F51855-829E-4173-B998-ED4E299333B3}">
      <dgm:prSet/>
      <dgm:spPr/>
      <dgm:t>
        <a:bodyPr/>
        <a:lstStyle/>
        <a:p>
          <a:endParaRPr lang="es-MX"/>
        </a:p>
      </dgm:t>
    </dgm:pt>
    <dgm:pt modelId="{9DE84B93-1D00-4090-AAE8-DDF79073EB15}">
      <dgm:prSet phldrT="[Texto]"/>
      <dgm:spPr>
        <a:solidFill>
          <a:srgbClr val="3333FF"/>
        </a:solidFill>
        <a:ln>
          <a:solidFill>
            <a:srgbClr val="002060"/>
          </a:solidFill>
        </a:ln>
      </dgm:spPr>
      <dgm:t>
        <a:bodyPr/>
        <a:lstStyle/>
        <a:p>
          <a:r>
            <a:rPr lang="es-MX" dirty="0">
              <a:latin typeface="+mj-lt"/>
            </a:rPr>
            <a:t>Aseguramiento de Calidad</a:t>
          </a:r>
        </a:p>
      </dgm:t>
    </dgm:pt>
    <dgm:pt modelId="{46D762CA-11D1-4187-BEB6-F2AE70D31333}" type="parTrans" cxnId="{FC050C93-2840-4C0D-BCC8-8E688F06DBA6}">
      <dgm:prSet/>
      <dgm:spPr>
        <a:ln w="28575">
          <a:solidFill>
            <a:schemeClr val="bg1">
              <a:lumMod val="50000"/>
            </a:schemeClr>
          </a:solidFill>
          <a:headEnd type="none" w="med" len="med"/>
          <a:tailEnd type="arrow" w="med" len="med"/>
        </a:ln>
      </dgm:spPr>
      <dgm:t>
        <a:bodyPr/>
        <a:lstStyle/>
        <a:p>
          <a:endParaRPr lang="es-MX"/>
        </a:p>
      </dgm:t>
    </dgm:pt>
    <dgm:pt modelId="{503A25C8-7FD8-4F1F-B3DC-5FB2CD0C2C59}" type="sibTrans" cxnId="{FC050C93-2840-4C0D-BCC8-8E688F06DBA6}">
      <dgm:prSet/>
      <dgm:spPr/>
      <dgm:t>
        <a:bodyPr/>
        <a:lstStyle/>
        <a:p>
          <a:endParaRPr lang="es-MX"/>
        </a:p>
      </dgm:t>
    </dgm:pt>
    <dgm:pt modelId="{495B0593-90B3-45DD-95C3-8E315BFF79F6}" type="pres">
      <dgm:prSet presAssocID="{3C1027E2-C421-4E31-9F7F-45CC1F44349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22060E8-D97A-415A-B2DE-3C68727BE215}" type="pres">
      <dgm:prSet presAssocID="{CD56FC69-2541-43FB-B74E-DC170C2FF04F}" presName="hierRoot1" presStyleCnt="0">
        <dgm:presLayoutVars>
          <dgm:hierBranch val="init"/>
        </dgm:presLayoutVars>
      </dgm:prSet>
      <dgm:spPr/>
    </dgm:pt>
    <dgm:pt modelId="{A200BFA6-0110-4BD5-BD80-37031F86FA69}" type="pres">
      <dgm:prSet presAssocID="{CD56FC69-2541-43FB-B74E-DC170C2FF04F}" presName="rootComposite1" presStyleCnt="0"/>
      <dgm:spPr/>
    </dgm:pt>
    <dgm:pt modelId="{C8564001-2FFE-47A7-937B-4FCF47343085}" type="pres">
      <dgm:prSet presAssocID="{CD56FC69-2541-43FB-B74E-DC170C2FF04F}" presName="rootText1" presStyleLbl="node0" presStyleIdx="0" presStyleCnt="1">
        <dgm:presLayoutVars>
          <dgm:chPref val="3"/>
        </dgm:presLayoutVars>
      </dgm:prSet>
      <dgm:spPr/>
    </dgm:pt>
    <dgm:pt modelId="{48A91C88-7785-4387-BF7A-CD89F2744228}" type="pres">
      <dgm:prSet presAssocID="{CD56FC69-2541-43FB-B74E-DC170C2FF04F}" presName="rootConnector1" presStyleLbl="node1" presStyleIdx="0" presStyleCnt="0"/>
      <dgm:spPr/>
    </dgm:pt>
    <dgm:pt modelId="{B978D8F1-6D40-4A14-8EBD-AF34F2E118BF}" type="pres">
      <dgm:prSet presAssocID="{CD56FC69-2541-43FB-B74E-DC170C2FF04F}" presName="hierChild2" presStyleCnt="0"/>
      <dgm:spPr/>
    </dgm:pt>
    <dgm:pt modelId="{1F4080BB-7E13-43E6-BD69-9CCCD00B8924}" type="pres">
      <dgm:prSet presAssocID="{CB8B2086-7D65-4D77-B742-592CFB381A45}" presName="Name37" presStyleLbl="parChTrans1D2" presStyleIdx="0" presStyleCnt="2"/>
      <dgm:spPr/>
    </dgm:pt>
    <dgm:pt modelId="{A7A4B7D2-1B7B-4626-A83E-8C455442FC4A}" type="pres">
      <dgm:prSet presAssocID="{B98F8087-707A-4941-9F4E-1C306E273A33}" presName="hierRoot2" presStyleCnt="0">
        <dgm:presLayoutVars>
          <dgm:hierBranch val="init"/>
        </dgm:presLayoutVars>
      </dgm:prSet>
      <dgm:spPr/>
    </dgm:pt>
    <dgm:pt modelId="{7868B04D-77FB-4684-B854-CB4AB8D37B18}" type="pres">
      <dgm:prSet presAssocID="{B98F8087-707A-4941-9F4E-1C306E273A33}" presName="rootComposite" presStyleCnt="0"/>
      <dgm:spPr/>
    </dgm:pt>
    <dgm:pt modelId="{5B065E20-DFC3-4E11-9E91-FF37C90CD514}" type="pres">
      <dgm:prSet presAssocID="{B98F8087-707A-4941-9F4E-1C306E273A33}" presName="rootText" presStyleLbl="node2" presStyleIdx="0" presStyleCnt="2">
        <dgm:presLayoutVars>
          <dgm:chPref val="3"/>
        </dgm:presLayoutVars>
      </dgm:prSet>
      <dgm:spPr/>
    </dgm:pt>
    <dgm:pt modelId="{18515656-3715-448F-BDDC-BEFB17AAA3E0}" type="pres">
      <dgm:prSet presAssocID="{B98F8087-707A-4941-9F4E-1C306E273A33}" presName="rootConnector" presStyleLbl="node2" presStyleIdx="0" presStyleCnt="2"/>
      <dgm:spPr/>
    </dgm:pt>
    <dgm:pt modelId="{13B13CF4-7EDF-40FE-BC80-C948E685D065}" type="pres">
      <dgm:prSet presAssocID="{B98F8087-707A-4941-9F4E-1C306E273A33}" presName="hierChild4" presStyleCnt="0"/>
      <dgm:spPr/>
    </dgm:pt>
    <dgm:pt modelId="{CBA08BDB-7651-4AED-9277-62C808042058}" type="pres">
      <dgm:prSet presAssocID="{B98F8087-707A-4941-9F4E-1C306E273A33}" presName="hierChild5" presStyleCnt="0"/>
      <dgm:spPr/>
    </dgm:pt>
    <dgm:pt modelId="{F84F54D3-92DC-4AD6-BF57-B4C4974D59C1}" type="pres">
      <dgm:prSet presAssocID="{46D762CA-11D1-4187-BEB6-F2AE70D31333}" presName="Name37" presStyleLbl="parChTrans1D2" presStyleIdx="1" presStyleCnt="2"/>
      <dgm:spPr/>
    </dgm:pt>
    <dgm:pt modelId="{CC625BC3-5DA4-4B1F-9111-5C208B4BFDF8}" type="pres">
      <dgm:prSet presAssocID="{9DE84B93-1D00-4090-AAE8-DDF79073EB15}" presName="hierRoot2" presStyleCnt="0">
        <dgm:presLayoutVars>
          <dgm:hierBranch val="init"/>
        </dgm:presLayoutVars>
      </dgm:prSet>
      <dgm:spPr/>
    </dgm:pt>
    <dgm:pt modelId="{7862E221-DC5F-443D-A253-180A270CA296}" type="pres">
      <dgm:prSet presAssocID="{9DE84B93-1D00-4090-AAE8-DDF79073EB15}" presName="rootComposite" presStyleCnt="0"/>
      <dgm:spPr/>
    </dgm:pt>
    <dgm:pt modelId="{6D23CD72-A25B-4B78-85D2-9F9234E7581E}" type="pres">
      <dgm:prSet presAssocID="{9DE84B93-1D00-4090-AAE8-DDF79073EB15}" presName="rootText" presStyleLbl="node2" presStyleIdx="1" presStyleCnt="2">
        <dgm:presLayoutVars>
          <dgm:chPref val="3"/>
        </dgm:presLayoutVars>
      </dgm:prSet>
      <dgm:spPr/>
    </dgm:pt>
    <dgm:pt modelId="{F7979E10-4170-4538-977E-598A8597D150}" type="pres">
      <dgm:prSet presAssocID="{9DE84B93-1D00-4090-AAE8-DDF79073EB15}" presName="rootConnector" presStyleLbl="node2" presStyleIdx="1" presStyleCnt="2"/>
      <dgm:spPr/>
    </dgm:pt>
    <dgm:pt modelId="{59CB792C-C28D-42FC-B372-B27CD829CB53}" type="pres">
      <dgm:prSet presAssocID="{9DE84B93-1D00-4090-AAE8-DDF79073EB15}" presName="hierChild4" presStyleCnt="0"/>
      <dgm:spPr/>
    </dgm:pt>
    <dgm:pt modelId="{51B75367-A618-484F-AC96-3B4C44BB2897}" type="pres">
      <dgm:prSet presAssocID="{9DE84B93-1D00-4090-AAE8-DDF79073EB15}" presName="hierChild5" presStyleCnt="0"/>
      <dgm:spPr/>
    </dgm:pt>
    <dgm:pt modelId="{D329C520-1F11-424E-B78C-91B10DD4FBEB}" type="pres">
      <dgm:prSet presAssocID="{CD56FC69-2541-43FB-B74E-DC170C2FF04F}" presName="hierChild3" presStyleCnt="0"/>
      <dgm:spPr/>
    </dgm:pt>
  </dgm:ptLst>
  <dgm:cxnLst>
    <dgm:cxn modelId="{2E67B10E-D6C9-4B06-A86B-A1CFE24E4E88}" type="presOf" srcId="{CD56FC69-2541-43FB-B74E-DC170C2FF04F}" destId="{C8564001-2FFE-47A7-937B-4FCF47343085}" srcOrd="0" destOrd="0" presId="urn:microsoft.com/office/officeart/2005/8/layout/orgChart1"/>
    <dgm:cxn modelId="{64B0C717-10F3-4D6A-8049-54174617B507}" type="presOf" srcId="{B98F8087-707A-4941-9F4E-1C306E273A33}" destId="{18515656-3715-448F-BDDC-BEFB17AAA3E0}" srcOrd="1" destOrd="0" presId="urn:microsoft.com/office/officeart/2005/8/layout/orgChart1"/>
    <dgm:cxn modelId="{2EE88023-3B5B-4833-87CF-0DA07186C74F}" type="presOf" srcId="{CB8B2086-7D65-4D77-B742-592CFB381A45}" destId="{1F4080BB-7E13-43E6-BD69-9CCCD00B8924}" srcOrd="0" destOrd="0" presId="urn:microsoft.com/office/officeart/2005/8/layout/orgChart1"/>
    <dgm:cxn modelId="{9EA64029-8570-4529-BF36-55A10445593A}" type="presOf" srcId="{46D762CA-11D1-4187-BEB6-F2AE70D31333}" destId="{F84F54D3-92DC-4AD6-BF57-B4C4974D59C1}" srcOrd="0" destOrd="0" presId="urn:microsoft.com/office/officeart/2005/8/layout/orgChart1"/>
    <dgm:cxn modelId="{2947BB2F-6B35-4379-92BD-12B02BD02B4B}" type="presOf" srcId="{9DE84B93-1D00-4090-AAE8-DDF79073EB15}" destId="{F7979E10-4170-4538-977E-598A8597D150}" srcOrd="1" destOrd="0" presId="urn:microsoft.com/office/officeart/2005/8/layout/orgChart1"/>
    <dgm:cxn modelId="{11B2AC4D-9D2F-4E22-9DC7-57E5F5A50FBD}" type="presOf" srcId="{3C1027E2-C421-4E31-9F7F-45CC1F44349A}" destId="{495B0593-90B3-45DD-95C3-8E315BFF79F6}" srcOrd="0" destOrd="0" presId="urn:microsoft.com/office/officeart/2005/8/layout/orgChart1"/>
    <dgm:cxn modelId="{69F51855-829E-4173-B998-ED4E299333B3}" srcId="{CD56FC69-2541-43FB-B74E-DC170C2FF04F}" destId="{B98F8087-707A-4941-9F4E-1C306E273A33}" srcOrd="0" destOrd="0" parTransId="{CB8B2086-7D65-4D77-B742-592CFB381A45}" sibTransId="{599AC8C8-0509-4FFA-B38E-753F450B488C}"/>
    <dgm:cxn modelId="{FC050C93-2840-4C0D-BCC8-8E688F06DBA6}" srcId="{CD56FC69-2541-43FB-B74E-DC170C2FF04F}" destId="{9DE84B93-1D00-4090-AAE8-DDF79073EB15}" srcOrd="1" destOrd="0" parTransId="{46D762CA-11D1-4187-BEB6-F2AE70D31333}" sibTransId="{503A25C8-7FD8-4F1F-B3DC-5FB2CD0C2C59}"/>
    <dgm:cxn modelId="{5729E8C1-4455-45E5-BED1-B3C06485F41D}" type="presOf" srcId="{9DE84B93-1D00-4090-AAE8-DDF79073EB15}" destId="{6D23CD72-A25B-4B78-85D2-9F9234E7581E}" srcOrd="0" destOrd="0" presId="urn:microsoft.com/office/officeart/2005/8/layout/orgChart1"/>
    <dgm:cxn modelId="{636472CC-0DC8-4324-A2CB-214951BFB142}" srcId="{3C1027E2-C421-4E31-9F7F-45CC1F44349A}" destId="{CD56FC69-2541-43FB-B74E-DC170C2FF04F}" srcOrd="0" destOrd="0" parTransId="{63E1F322-8A43-432F-AED7-2793E75F7073}" sibTransId="{E10927E0-53C5-40B2-9E8C-2495A31437A5}"/>
    <dgm:cxn modelId="{E69010CF-175E-4FFA-BF06-62CFCAD3D4C0}" type="presOf" srcId="{B98F8087-707A-4941-9F4E-1C306E273A33}" destId="{5B065E20-DFC3-4E11-9E91-FF37C90CD514}" srcOrd="0" destOrd="0" presId="urn:microsoft.com/office/officeart/2005/8/layout/orgChart1"/>
    <dgm:cxn modelId="{7AD99DFE-7B90-4B01-AC95-BC5DCEC54F7E}" type="presOf" srcId="{CD56FC69-2541-43FB-B74E-DC170C2FF04F}" destId="{48A91C88-7785-4387-BF7A-CD89F2744228}" srcOrd="1" destOrd="0" presId="urn:microsoft.com/office/officeart/2005/8/layout/orgChart1"/>
    <dgm:cxn modelId="{82FA907E-5D32-4946-B869-C68E3B070CBD}" type="presParOf" srcId="{495B0593-90B3-45DD-95C3-8E315BFF79F6}" destId="{E22060E8-D97A-415A-B2DE-3C68727BE215}" srcOrd="0" destOrd="0" presId="urn:microsoft.com/office/officeart/2005/8/layout/orgChart1"/>
    <dgm:cxn modelId="{B0C397E0-DED7-49C9-A1A4-8BFF4C2BAA55}" type="presParOf" srcId="{E22060E8-D97A-415A-B2DE-3C68727BE215}" destId="{A200BFA6-0110-4BD5-BD80-37031F86FA69}" srcOrd="0" destOrd="0" presId="urn:microsoft.com/office/officeart/2005/8/layout/orgChart1"/>
    <dgm:cxn modelId="{475E40BF-9312-4124-8AA0-BE7E0AF5C8CA}" type="presParOf" srcId="{A200BFA6-0110-4BD5-BD80-37031F86FA69}" destId="{C8564001-2FFE-47A7-937B-4FCF47343085}" srcOrd="0" destOrd="0" presId="urn:microsoft.com/office/officeart/2005/8/layout/orgChart1"/>
    <dgm:cxn modelId="{B0C60521-EB33-4898-BFEF-BB1829F692EF}" type="presParOf" srcId="{A200BFA6-0110-4BD5-BD80-37031F86FA69}" destId="{48A91C88-7785-4387-BF7A-CD89F2744228}" srcOrd="1" destOrd="0" presId="urn:microsoft.com/office/officeart/2005/8/layout/orgChart1"/>
    <dgm:cxn modelId="{4DA4FE85-8F85-40FE-93B9-7395E1FF634C}" type="presParOf" srcId="{E22060E8-D97A-415A-B2DE-3C68727BE215}" destId="{B978D8F1-6D40-4A14-8EBD-AF34F2E118BF}" srcOrd="1" destOrd="0" presId="urn:microsoft.com/office/officeart/2005/8/layout/orgChart1"/>
    <dgm:cxn modelId="{77289F39-E509-4F73-88DD-A0847D5E4D73}" type="presParOf" srcId="{B978D8F1-6D40-4A14-8EBD-AF34F2E118BF}" destId="{1F4080BB-7E13-43E6-BD69-9CCCD00B8924}" srcOrd="0" destOrd="0" presId="urn:microsoft.com/office/officeart/2005/8/layout/orgChart1"/>
    <dgm:cxn modelId="{C79777F5-DB71-4AC9-A263-003CBCA937D4}" type="presParOf" srcId="{B978D8F1-6D40-4A14-8EBD-AF34F2E118BF}" destId="{A7A4B7D2-1B7B-4626-A83E-8C455442FC4A}" srcOrd="1" destOrd="0" presId="urn:microsoft.com/office/officeart/2005/8/layout/orgChart1"/>
    <dgm:cxn modelId="{DAAD9E77-A977-4542-BC33-3D795B1BDBA8}" type="presParOf" srcId="{A7A4B7D2-1B7B-4626-A83E-8C455442FC4A}" destId="{7868B04D-77FB-4684-B854-CB4AB8D37B18}" srcOrd="0" destOrd="0" presId="urn:microsoft.com/office/officeart/2005/8/layout/orgChart1"/>
    <dgm:cxn modelId="{3F30EED2-8CBF-4B4C-A5B7-E6F98F7CA0C2}" type="presParOf" srcId="{7868B04D-77FB-4684-B854-CB4AB8D37B18}" destId="{5B065E20-DFC3-4E11-9E91-FF37C90CD514}" srcOrd="0" destOrd="0" presId="urn:microsoft.com/office/officeart/2005/8/layout/orgChart1"/>
    <dgm:cxn modelId="{E6923710-D7C7-4EDF-971F-2F6C4D322497}" type="presParOf" srcId="{7868B04D-77FB-4684-B854-CB4AB8D37B18}" destId="{18515656-3715-448F-BDDC-BEFB17AAA3E0}" srcOrd="1" destOrd="0" presId="urn:microsoft.com/office/officeart/2005/8/layout/orgChart1"/>
    <dgm:cxn modelId="{0275FC04-AA03-4D8E-91FC-3171C3DBDC26}" type="presParOf" srcId="{A7A4B7D2-1B7B-4626-A83E-8C455442FC4A}" destId="{13B13CF4-7EDF-40FE-BC80-C948E685D065}" srcOrd="1" destOrd="0" presId="urn:microsoft.com/office/officeart/2005/8/layout/orgChart1"/>
    <dgm:cxn modelId="{8CD73278-5C19-4931-A9BE-0DF593021A0A}" type="presParOf" srcId="{A7A4B7D2-1B7B-4626-A83E-8C455442FC4A}" destId="{CBA08BDB-7651-4AED-9277-62C808042058}" srcOrd="2" destOrd="0" presId="urn:microsoft.com/office/officeart/2005/8/layout/orgChart1"/>
    <dgm:cxn modelId="{360AA595-2F79-44CD-8C21-B9D13D1FBA9F}" type="presParOf" srcId="{B978D8F1-6D40-4A14-8EBD-AF34F2E118BF}" destId="{F84F54D3-92DC-4AD6-BF57-B4C4974D59C1}" srcOrd="2" destOrd="0" presId="urn:microsoft.com/office/officeart/2005/8/layout/orgChart1"/>
    <dgm:cxn modelId="{845F9C91-2AA3-4066-B673-53358BD8BF52}" type="presParOf" srcId="{B978D8F1-6D40-4A14-8EBD-AF34F2E118BF}" destId="{CC625BC3-5DA4-4B1F-9111-5C208B4BFDF8}" srcOrd="3" destOrd="0" presId="urn:microsoft.com/office/officeart/2005/8/layout/orgChart1"/>
    <dgm:cxn modelId="{43C0042A-B55B-423D-97EE-33785BC695F2}" type="presParOf" srcId="{CC625BC3-5DA4-4B1F-9111-5C208B4BFDF8}" destId="{7862E221-DC5F-443D-A253-180A270CA296}" srcOrd="0" destOrd="0" presId="urn:microsoft.com/office/officeart/2005/8/layout/orgChart1"/>
    <dgm:cxn modelId="{5F442D77-08F9-4CB8-BD41-50FE2CD57F12}" type="presParOf" srcId="{7862E221-DC5F-443D-A253-180A270CA296}" destId="{6D23CD72-A25B-4B78-85D2-9F9234E7581E}" srcOrd="0" destOrd="0" presId="urn:microsoft.com/office/officeart/2005/8/layout/orgChart1"/>
    <dgm:cxn modelId="{6A0AD4F7-C73F-4A4B-BA80-C71BD25DFC67}" type="presParOf" srcId="{7862E221-DC5F-443D-A253-180A270CA296}" destId="{F7979E10-4170-4538-977E-598A8597D150}" srcOrd="1" destOrd="0" presId="urn:microsoft.com/office/officeart/2005/8/layout/orgChart1"/>
    <dgm:cxn modelId="{11D88DE1-FE09-4ABC-AB8F-C78BE9E93A43}" type="presParOf" srcId="{CC625BC3-5DA4-4B1F-9111-5C208B4BFDF8}" destId="{59CB792C-C28D-42FC-B372-B27CD829CB53}" srcOrd="1" destOrd="0" presId="urn:microsoft.com/office/officeart/2005/8/layout/orgChart1"/>
    <dgm:cxn modelId="{CA0EAAD5-0088-4ED4-AB42-CA3E7CFBC181}" type="presParOf" srcId="{CC625BC3-5DA4-4B1F-9111-5C208B4BFDF8}" destId="{51B75367-A618-484F-AC96-3B4C44BB2897}" srcOrd="2" destOrd="0" presId="urn:microsoft.com/office/officeart/2005/8/layout/orgChart1"/>
    <dgm:cxn modelId="{5F634C2A-46CD-495B-AE0E-D8F103408A71}" type="presParOf" srcId="{E22060E8-D97A-415A-B2DE-3C68727BE215}" destId="{D329C520-1F11-424E-B78C-91B10DD4FBE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F54D3-92DC-4AD6-BF57-B4C4974D59C1}">
      <dsp:nvSpPr>
        <dsp:cNvPr id="0" name=""/>
        <dsp:cNvSpPr/>
      </dsp:nvSpPr>
      <dsp:spPr>
        <a:xfrm>
          <a:off x="304800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489"/>
              </a:lnTo>
              <a:lnTo>
                <a:pt x="1668009" y="289489"/>
              </a:lnTo>
              <a:lnTo>
                <a:pt x="1668009" y="578978"/>
              </a:lnTo>
            </a:path>
          </a:pathLst>
        </a:custGeom>
        <a:noFill/>
        <a:ln w="28575" cap="flat" cmpd="sng" algn="ctr">
          <a:solidFill>
            <a:schemeClr val="bg1">
              <a:lumMod val="50000"/>
            </a:schemeClr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4080BB-7E13-43E6-BD69-9CCCD00B8924}">
      <dsp:nvSpPr>
        <dsp:cNvPr id="0" name=""/>
        <dsp:cNvSpPr/>
      </dsp:nvSpPr>
      <dsp:spPr>
        <a:xfrm>
          <a:off x="137999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1668009" y="0"/>
              </a:moveTo>
              <a:lnTo>
                <a:pt x="1668009" y="289489"/>
              </a:lnTo>
              <a:lnTo>
                <a:pt x="0" y="289489"/>
              </a:lnTo>
              <a:lnTo>
                <a:pt x="0" y="578978"/>
              </a:lnTo>
            </a:path>
          </a:pathLst>
        </a:custGeom>
        <a:noFill/>
        <a:ln w="28575" cap="flat" cmpd="sng" algn="ctr">
          <a:solidFill>
            <a:schemeClr val="bg1">
              <a:lumMod val="50000"/>
            </a:schemeClr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64001-2FFE-47A7-937B-4FCF47343085}">
      <dsp:nvSpPr>
        <dsp:cNvPr id="0" name=""/>
        <dsp:cNvSpPr/>
      </dsp:nvSpPr>
      <dsp:spPr>
        <a:xfrm>
          <a:off x="1669479" y="363990"/>
          <a:ext cx="2757041" cy="1378520"/>
        </a:xfrm>
        <a:prstGeom prst="rect">
          <a:avLst/>
        </a:prstGeom>
        <a:solidFill>
          <a:srgbClr val="3333FF"/>
        </a:solidFill>
        <a:ln w="127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>
              <a:latin typeface="+mj-lt"/>
            </a:rPr>
            <a:t>Aseguramiento de Calidad</a:t>
          </a:r>
        </a:p>
      </dsp:txBody>
      <dsp:txXfrm>
        <a:off x="1669479" y="363990"/>
        <a:ext cx="2757041" cy="1378520"/>
      </dsp:txXfrm>
    </dsp:sp>
    <dsp:sp modelId="{5B065E20-DFC3-4E11-9E91-FF37C90CD514}">
      <dsp:nvSpPr>
        <dsp:cNvPr id="0" name=""/>
        <dsp:cNvSpPr/>
      </dsp:nvSpPr>
      <dsp:spPr>
        <a:xfrm>
          <a:off x="1469" y="2321489"/>
          <a:ext cx="2757041" cy="1378520"/>
        </a:xfrm>
        <a:prstGeom prst="rect">
          <a:avLst/>
        </a:prstGeom>
        <a:solidFill>
          <a:srgbClr val="3333FF"/>
        </a:solidFill>
        <a:ln w="127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>
              <a:latin typeface="+mj-lt"/>
            </a:rPr>
            <a:t>Control de Calidad</a:t>
          </a:r>
        </a:p>
      </dsp:txBody>
      <dsp:txXfrm>
        <a:off x="1469" y="2321489"/>
        <a:ext cx="2757041" cy="1378520"/>
      </dsp:txXfrm>
    </dsp:sp>
    <dsp:sp modelId="{6D23CD72-A25B-4B78-85D2-9F9234E7581E}">
      <dsp:nvSpPr>
        <dsp:cNvPr id="0" name=""/>
        <dsp:cNvSpPr/>
      </dsp:nvSpPr>
      <dsp:spPr>
        <a:xfrm>
          <a:off x="3337489" y="2321489"/>
          <a:ext cx="2757041" cy="1378520"/>
        </a:xfrm>
        <a:prstGeom prst="rect">
          <a:avLst/>
        </a:prstGeom>
        <a:solidFill>
          <a:srgbClr val="3333FF"/>
        </a:solidFill>
        <a:ln w="127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>
              <a:latin typeface="+mj-lt"/>
            </a:rPr>
            <a:t>Aseguramiento de Calidad</a:t>
          </a:r>
        </a:p>
      </dsp:txBody>
      <dsp:txXfrm>
        <a:off x="3337489" y="2321489"/>
        <a:ext cx="2757041" cy="1378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B0D1A45-41C0-4398-8929-12D6A4870C1C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E4F2FA5-3596-4CE0-9DB9-528CBE124DE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619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5C0D253-4A95-4D03-A02E-A788AFFEA70B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BB651B8-B862-43CE-956C-2C10D78654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86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Gobierno Corporativ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baseline="0" dirty="0">
                <a:solidFill>
                  <a:srgbClr val="FFFFFF"/>
                </a:solidFill>
              </a:defRPr>
            </a:lvl1pPr>
          </a:lstStyle>
          <a:p>
            <a:endParaRPr kumimoji="0" lang="es-MX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10841D-8250-43CF-A27A-DBF8BFEF70D7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Clr>
                <a:srgbClr val="0000CC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F0540-424B-49E3-9081-3CE92236D7DB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4DFB-2C15-407B-AD3E-2CD21BC6B108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6D3E8E-AC7A-4DCD-A701-7C5234ACF4EF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6D6579-4115-482F-B067-B6C43722BAE5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/>
            </a:lvl1pPr>
            <a:lvl2pPr>
              <a:buClr>
                <a:srgbClr val="3333FF"/>
              </a:buClr>
              <a:defRPr/>
            </a:lvl2pPr>
            <a:lvl3pPr>
              <a:buClr>
                <a:srgbClr val="3333FF"/>
              </a:buClr>
              <a:defRPr/>
            </a:lvl3pPr>
            <a:lvl4pPr>
              <a:buClr>
                <a:srgbClr val="3333FF"/>
              </a:buClr>
              <a:defRPr/>
            </a:lvl4pPr>
            <a:lvl5pPr>
              <a:buClr>
                <a:srgbClr val="3333FF"/>
              </a:buClr>
              <a:defRPr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BA0424-A9FF-494B-9D22-B1A5D17F0383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4BC952-1AEB-4BA0-9BF7-2C6A6A77C56C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84D211-8278-4521-98BF-81399BD6C751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8875E9-E5C5-47B3-AD04-A744DBCD6CF5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44C3BE-1FC8-41D8-ADC5-FB65608760F4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BCBD40-EE17-489A-9E56-FA37958C2A91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CE558-9C9C-4C52-B923-9C1B54E15923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667928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4729736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7120958"/>
      </p:ext>
    </p:extLst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0666242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2451488"/>
      </p:ext>
    </p:extLst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1099150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3339635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1009537"/>
      </p:ext>
    </p:extLst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8551721"/>
      </p:ext>
    </p:extLst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22305689"/>
      </p:ext>
    </p:extLst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3296935"/>
      </p:ext>
    </p:extLst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8151433"/>
      </p:ext>
    </p:extLst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98718873"/>
      </p:ext>
    </p:extLst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3657121"/>
      </p:ext>
    </p:extLst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2664043"/>
      </p:ext>
    </p:extLst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9863931"/>
      </p:ext>
    </p:extLst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3072751"/>
      </p:ext>
    </p:extLst>
  </p:cSld>
  <p:clrMapOvr>
    <a:masterClrMapping/>
  </p:clrMapOvr>
  <p:transition spd="slow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21595700"/>
      </p:ext>
    </p:extLst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255841"/>
      </p:ext>
    </p:extLst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001563"/>
      </p:ext>
    </p:extLst>
  </p:cSld>
  <p:clrMapOvr>
    <a:masterClrMapping/>
  </p:clrMapOvr>
  <p:transition spd="slow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2001175"/>
      </p:ext>
    </p:extLst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4247260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s-MX" noProof="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s-MX" noProof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8985BF-BB93-4B8F-B943-E4A2A4043D68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6E8E9AC-1EAE-4439-9F3A-5D68DC7613C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63" r:id="rId4"/>
    <p:sldLayoutId id="2147483672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4" r:id="rId14"/>
  </p:sldLayoutIdLst>
  <p:transition spd="slow">
    <p:wipe dir="r"/>
  </p:transition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7927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631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latin typeface="+mj-lt"/>
              </a:rPr>
              <a:t>Modelo de Procesos</a:t>
            </a:r>
          </a:p>
        </p:txBody>
      </p:sp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Arial Rounded MT Bold" panose="020F0704030504030204" pitchFamily="34" charset="0"/>
              </a:rPr>
              <a:t>Planeación Estratégica</a:t>
            </a:r>
          </a:p>
        </p:txBody>
      </p:sp>
      <p:pic>
        <p:nvPicPr>
          <p:cNvPr id="4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19" y="5007043"/>
            <a:ext cx="1433885" cy="15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8558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Arial Rounded MT Bold" panose="020F0704030504030204" pitchFamily="34" charset="0"/>
              </a:rPr>
              <a:t>Control de versiones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>
                <a:latin typeface="+mj-lt"/>
              </a:rPr>
              <a:pPr/>
              <a:t>mayo de 2022</a:t>
            </a:fld>
            <a:endParaRPr lang="en-US" dirty="0">
              <a:latin typeface="+mj-lt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6 Marcador de contenido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86252264"/>
              </p:ext>
            </p:extLst>
          </p:nvPr>
        </p:nvGraphicFramePr>
        <p:xfrm>
          <a:off x="914400" y="1447800"/>
          <a:ext cx="7772400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Ver.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Descripción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Fecha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Responsable</a:t>
                      </a:r>
                    </a:p>
                  </a:txBody>
                  <a:tcPr>
                    <a:solidFill>
                      <a:srgbClr val="33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v.00a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Borrador inicial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12-ago-16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Miguel Escobedo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v.00b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Modificación de</a:t>
                      </a:r>
                      <a:r>
                        <a:rPr lang="es-MX" sz="1400" baseline="0" dirty="0">
                          <a:latin typeface="+mj-lt"/>
                        </a:rPr>
                        <a:t> Plantilla</a:t>
                      </a:r>
                      <a:endParaRPr lang="es-MX" sz="1400" dirty="0">
                        <a:latin typeface="+mj-lt"/>
                      </a:endParaRP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15-ago-16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Daniel</a:t>
                      </a:r>
                      <a:r>
                        <a:rPr lang="es-MX" sz="1400" baseline="0" dirty="0">
                          <a:latin typeface="+mj-lt"/>
                        </a:rPr>
                        <a:t> Olivares</a:t>
                      </a:r>
                      <a:endParaRPr lang="es-MX" sz="1400" dirty="0">
                        <a:latin typeface="+mj-lt"/>
                      </a:endParaRPr>
                    </a:p>
                  </a:txBody>
                  <a:tcPr>
                    <a:solidFill>
                      <a:srgbClr val="E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v.00b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Modificación de tamaño a la Diapositiva 3 “Modelo</a:t>
                      </a:r>
                      <a:r>
                        <a:rPr lang="es-MX" sz="1400" baseline="0" dirty="0">
                          <a:latin typeface="+mj-lt"/>
                        </a:rPr>
                        <a:t> de Procesos”</a:t>
                      </a:r>
                      <a:endParaRPr lang="es-MX" sz="1400" dirty="0">
                        <a:latin typeface="+mj-lt"/>
                      </a:endParaRP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15-ago-16</a:t>
                      </a:r>
                    </a:p>
                  </a:txBody>
                  <a:tcPr>
                    <a:solidFill>
                      <a:srgbClr val="BCB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Daniel</a:t>
                      </a:r>
                      <a:r>
                        <a:rPr lang="es-MX" sz="1400" baseline="0" dirty="0">
                          <a:latin typeface="+mj-lt"/>
                        </a:rPr>
                        <a:t> Olivares</a:t>
                      </a:r>
                      <a:endParaRPr lang="es-MX" sz="1400" dirty="0">
                        <a:latin typeface="+mj-lt"/>
                      </a:endParaRPr>
                    </a:p>
                  </a:txBody>
                  <a:tcPr>
                    <a:solidFill>
                      <a:srgbClr val="BCB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s-MX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v.00b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Modificación en formas de las Diapositivas 4 a 8.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15-ago-16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Daniel Olivares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75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s-MX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v.00c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Descomposición</a:t>
                      </a:r>
                      <a:r>
                        <a:rPr lang="es-MX" sz="1400" baseline="0" dirty="0">
                          <a:latin typeface="+mj-lt"/>
                        </a:rPr>
                        <a:t> del proceso de Admón. y Finanzas</a:t>
                      </a:r>
                      <a:endParaRPr lang="es-MX" sz="1400" dirty="0">
                        <a:latin typeface="+mj-lt"/>
                      </a:endParaRP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19-ago-16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Miguel Escobedo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s-MX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v.00c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Fortalezas y debilidades de los procesos de RH, Legal y TI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22-ago-16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Miguel Escobedo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s-MX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v.00d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j-lt"/>
                        </a:rPr>
                        <a:t>Agregar resumen de fortalezas y debilidades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22-ago-16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>
                          <a:latin typeface="+mj-lt"/>
                        </a:rPr>
                        <a:t>Miguel Escobedo</a:t>
                      </a:r>
                    </a:p>
                  </a:txBody>
                  <a:tcPr>
                    <a:solidFill>
                      <a:srgbClr val="E9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43819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bIns="91440" anchor="b" anchorCtr="0">
            <a:normAutofit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Índice (1)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>
                <a:hlinkClick r:id="rId2" action="ppaction://hlinksldjump"/>
              </a:rPr>
              <a:t>Modelo de Procesos FHESA</a:t>
            </a:r>
            <a:endParaRPr lang="es-MX" dirty="0"/>
          </a:p>
          <a:p>
            <a:r>
              <a:rPr lang="es-MX" dirty="0">
                <a:hlinkClick r:id="rId3" action="ppaction://hlinksldjump"/>
              </a:rPr>
              <a:t>Resumen de Fortalezas de los procesos</a:t>
            </a:r>
            <a:endParaRPr lang="es-MX" dirty="0"/>
          </a:p>
          <a:p>
            <a:r>
              <a:rPr lang="es-MX" dirty="0">
                <a:hlinkClick r:id="rId4" action="ppaction://hlinksldjump"/>
              </a:rPr>
              <a:t>Resumen de Debilidades de los procesos</a:t>
            </a:r>
            <a:endParaRPr lang="es-MX" dirty="0"/>
          </a:p>
          <a:p>
            <a:r>
              <a:rPr lang="es-MX" dirty="0"/>
              <a:t>Abastecimientos</a:t>
            </a:r>
          </a:p>
          <a:p>
            <a:pPr lvl="1"/>
            <a:r>
              <a:rPr lang="es-MX" dirty="0">
                <a:hlinkClick r:id="rId5" action="ppaction://hlinksldjump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rId6" action="ppaction://hlinksldjump"/>
              </a:rPr>
              <a:t>Fortalezas y debilidades del proceso</a:t>
            </a:r>
            <a:endParaRPr lang="es-MX" dirty="0"/>
          </a:p>
          <a:p>
            <a:r>
              <a:rPr lang="es-MX" dirty="0"/>
              <a:t>Fabricación</a:t>
            </a:r>
          </a:p>
          <a:p>
            <a:pPr lvl="1"/>
            <a:r>
              <a:rPr lang="es-MX" dirty="0">
                <a:hlinkClick r:id="" action="ppaction://noaction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Fortalezas y debilidades del proceso</a:t>
            </a:r>
            <a:endParaRPr lang="es-MX" dirty="0"/>
          </a:p>
          <a:p>
            <a:r>
              <a:rPr lang="es-MX" dirty="0"/>
              <a:t>Comercial</a:t>
            </a:r>
          </a:p>
          <a:p>
            <a:pPr lvl="1"/>
            <a:r>
              <a:rPr lang="es-MX" dirty="0">
                <a:hlinkClick r:id="" action="ppaction://noaction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Fortalezas y debilidades del proceso</a:t>
            </a:r>
            <a:endParaRPr lang="es-MX" dirty="0"/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12223073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bIns="91440" anchor="b" anchorCtr="0">
            <a:normAutofit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Índice (2)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Logística</a:t>
            </a:r>
          </a:p>
          <a:p>
            <a:pPr lvl="1"/>
            <a:r>
              <a:rPr lang="es-MX" dirty="0">
                <a:hlinkClick r:id="" action="ppaction://noaction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Fortalezas y debilidades del proceso</a:t>
            </a:r>
            <a:endParaRPr lang="es-MX" dirty="0"/>
          </a:p>
          <a:p>
            <a:r>
              <a:rPr lang="es-MX" dirty="0"/>
              <a:t>Aseguramiento y Control de Calidad</a:t>
            </a:r>
          </a:p>
          <a:p>
            <a:pPr lvl="1"/>
            <a:r>
              <a:rPr lang="es-MX" dirty="0">
                <a:hlinkClick r:id="rId2" action="ppaction://hlinksldjump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rId3" action="ppaction://hlinksldjump"/>
              </a:rPr>
              <a:t>Fortalezas y debilidades del proceso</a:t>
            </a:r>
            <a:endParaRPr lang="es-MX" dirty="0"/>
          </a:p>
          <a:p>
            <a:r>
              <a:rPr lang="es-MX" dirty="0"/>
              <a:t>Administración y Finanzas</a:t>
            </a:r>
          </a:p>
          <a:p>
            <a:pPr lvl="1"/>
            <a:r>
              <a:rPr lang="es-MX" dirty="0">
                <a:hlinkClick r:id="" action="ppaction://noaction"/>
              </a:rPr>
              <a:t>Descomposición de subprocesos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Fortalezas y debilidades del proceso</a:t>
            </a:r>
            <a:endParaRPr lang="es-MX" dirty="0"/>
          </a:p>
          <a:p>
            <a:r>
              <a:rPr lang="es-MX" dirty="0"/>
              <a:t>Otros procesos de soporte:</a:t>
            </a:r>
          </a:p>
          <a:p>
            <a:pPr lvl="1"/>
            <a:r>
              <a:rPr lang="es-MX" dirty="0">
                <a:hlinkClick r:id="" action="ppaction://noaction"/>
              </a:rPr>
              <a:t>Recursos Humanos: Fortalezas y debilidades del proceso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Legal: Fortalezas y debilidades del proceso</a:t>
            </a:r>
            <a:endParaRPr lang="es-MX" dirty="0"/>
          </a:p>
          <a:p>
            <a:pPr lvl="1"/>
            <a:r>
              <a:rPr lang="es-MX" dirty="0">
                <a:hlinkClick r:id="" action="ppaction://noaction"/>
              </a:rPr>
              <a:t>Tecnologías de Información: Fortalezas y debilidades del proceso</a:t>
            </a:r>
            <a:endParaRPr lang="es-MX" dirty="0"/>
          </a:p>
          <a:p>
            <a:pPr lvl="1"/>
            <a:endParaRPr lang="es-MX" dirty="0"/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3251068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Arial Rounded MT Bold" panose="020F0704030504030204" pitchFamily="34" charset="0"/>
              </a:rPr>
              <a:t>Modelo de Procesos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>
                <a:latin typeface="+mj-lt"/>
              </a:rPr>
              <a:pPr/>
              <a:t>mayo de 2022</a:t>
            </a:fld>
            <a:endParaRPr lang="en-US" dirty="0">
              <a:latin typeface="+mj-lt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6" name="Rectangle 8"/>
          <p:cNvSpPr>
            <a:spLocks noChangeArrowheads="1"/>
          </p:cNvSpPr>
          <p:nvPr/>
        </p:nvSpPr>
        <p:spPr bwMode="auto">
          <a:xfrm rot="16200000">
            <a:off x="5136660" y="4029364"/>
            <a:ext cx="2694363" cy="65267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3366CC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s-MX" altLang="es-MX" sz="1000" b="1" dirty="0">
                <a:solidFill>
                  <a:srgbClr val="FFFFFF"/>
                </a:solidFill>
                <a:latin typeface="+mj-lt"/>
              </a:rPr>
              <a:t>Legal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539552" y="1658258"/>
            <a:ext cx="8216329" cy="4320023"/>
            <a:chOff x="108" y="1003"/>
            <a:chExt cx="5539" cy="3153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519" y="1746"/>
              <a:ext cx="2949" cy="31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6600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s-MX" altLang="es-MX" sz="900" b="1" u="sng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 rot="16200000">
              <a:off x="2344" y="2758"/>
              <a:ext cx="1992" cy="440"/>
            </a:xfrm>
            <a:prstGeom prst="rect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3366CC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s-MX" altLang="es-MX" sz="1000" b="1" dirty="0">
                  <a:solidFill>
                    <a:srgbClr val="FFFFFF"/>
                  </a:solidFill>
                  <a:latin typeface="+mj-lt"/>
                </a:rPr>
                <a:t>Recursos Humanos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 rot="16200000">
              <a:off x="842" y="2761"/>
              <a:ext cx="1985" cy="440"/>
            </a:xfrm>
            <a:prstGeom prst="rect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3366CC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s-MX" altLang="es-MX" sz="1000" b="1" dirty="0">
                  <a:solidFill>
                    <a:srgbClr val="FFFFFF"/>
                  </a:solidFill>
                  <a:latin typeface="+mj-lt"/>
                </a:rPr>
                <a:t>Admón. y Finanzas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 rot="16200000">
              <a:off x="1569" y="2759"/>
              <a:ext cx="1991" cy="438"/>
            </a:xfrm>
            <a:prstGeom prst="rect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3366CC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s-MX" sz="1000" b="1" dirty="0" err="1">
                  <a:solidFill>
                    <a:srgbClr val="FFFFFF"/>
                  </a:solidFill>
                  <a:latin typeface="+mj-lt"/>
                </a:rPr>
                <a:t>Tecnologías</a:t>
              </a:r>
              <a:r>
                <a:rPr lang="en-US" altLang="es-MX" sz="1000" b="1" dirty="0">
                  <a:solidFill>
                    <a:srgbClr val="FFFFFF"/>
                  </a:solidFill>
                  <a:latin typeface="+mj-lt"/>
                </a:rPr>
                <a:t> de </a:t>
              </a:r>
              <a:r>
                <a:rPr lang="en-US" altLang="es-MX" sz="1000" b="1" dirty="0" err="1">
                  <a:solidFill>
                    <a:srgbClr val="FFFFFF"/>
                  </a:solidFill>
                  <a:latin typeface="+mj-lt"/>
                </a:rPr>
                <a:t>Información</a:t>
              </a:r>
              <a:endParaRPr lang="es-MX" altLang="es-MX" sz="1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703" y="1162"/>
              <a:ext cx="428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rial" charset="0"/>
                </a:defRPr>
              </a:lvl9pPr>
            </a:lstStyle>
            <a:p>
              <a:endParaRPr lang="es-MX" altLang="es-MX" sz="3200" b="1">
                <a:latin typeface="+mj-lt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1519" y="3992"/>
              <a:ext cx="2949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 anchorCtr="1"/>
            <a:lstStyle/>
            <a:p>
              <a:pPr algn="ctr" eaLnBrk="0" hangingPunct="0">
                <a:lnSpc>
                  <a:spcPct val="65000"/>
                </a:lnSpc>
              </a:pPr>
              <a:r>
                <a:rPr lang="es-MX" altLang="es-MX" sz="1000" b="1">
                  <a:solidFill>
                    <a:srgbClr val="FFFFFF"/>
                  </a:solidFill>
                  <a:latin typeface="+mj-lt"/>
                </a:rPr>
                <a:t>Procesos de Soporte</a:t>
              </a:r>
              <a:endParaRPr lang="en-US" altLang="es-MX" sz="10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642" y="2356"/>
              <a:ext cx="48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Insumos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642" y="2128"/>
              <a:ext cx="48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>
                  <a:solidFill>
                    <a:srgbClr val="000000"/>
                  </a:solidFill>
                  <a:latin typeface="+mj-lt"/>
                </a:rPr>
                <a:t>Maquinaria</a:t>
              </a:r>
              <a:endParaRPr lang="en-US" altLang="es-MX" sz="1000" b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642" y="1661"/>
              <a:ext cx="48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>
                  <a:solidFill>
                    <a:srgbClr val="000000"/>
                  </a:solidFill>
                  <a:latin typeface="+mj-lt"/>
                </a:rPr>
                <a:t>Capital</a:t>
              </a:r>
              <a:endParaRPr lang="en-US" altLang="es-MX" sz="1000" b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 rot="16200000">
              <a:off x="1022" y="1975"/>
              <a:ext cx="725" cy="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FFFFFF"/>
                  </a:solidFill>
                  <a:latin typeface="+mj-lt"/>
                </a:rPr>
                <a:t>Procesos Primarios</a:t>
              </a:r>
              <a:endParaRPr lang="en-US" altLang="es-MX" sz="1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0" name="AutoShape 17"/>
            <p:cNvSpPr>
              <a:spLocks noChangeArrowheads="1"/>
            </p:cNvSpPr>
            <p:nvPr/>
          </p:nvSpPr>
          <p:spPr bwMode="auto">
            <a:xfrm>
              <a:off x="1145" y="2036"/>
              <a:ext cx="113" cy="138"/>
            </a:xfrm>
            <a:prstGeom prst="rightArrow">
              <a:avLst>
                <a:gd name="adj1" fmla="val 50000"/>
                <a:gd name="adj2" fmla="val 50023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143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C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2000" b="1">
                <a:latin typeface="+mj-lt"/>
              </a:endParaRPr>
            </a:p>
          </p:txBody>
        </p:sp>
        <p:sp>
          <p:nvSpPr>
            <p:cNvPr id="21" name="AutoShape 18"/>
            <p:cNvSpPr>
              <a:spLocks noChangeArrowheads="1"/>
            </p:cNvSpPr>
            <p:nvPr/>
          </p:nvSpPr>
          <p:spPr bwMode="auto">
            <a:xfrm>
              <a:off x="4491" y="2090"/>
              <a:ext cx="113" cy="140"/>
            </a:xfrm>
            <a:prstGeom prst="rightArrow">
              <a:avLst>
                <a:gd name="adj1" fmla="val 50000"/>
                <a:gd name="adj2" fmla="val 50023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143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C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2000" b="1">
                <a:latin typeface="+mj-lt"/>
              </a:endParaRPr>
            </a:p>
          </p:txBody>
        </p:sp>
        <p:sp>
          <p:nvSpPr>
            <p:cNvPr id="22" name="AutoShape 19"/>
            <p:cNvSpPr>
              <a:spLocks noChangeArrowheads="1"/>
            </p:cNvSpPr>
            <p:nvPr/>
          </p:nvSpPr>
          <p:spPr bwMode="auto">
            <a:xfrm>
              <a:off x="294" y="2025"/>
              <a:ext cx="112" cy="138"/>
            </a:xfrm>
            <a:prstGeom prst="rightArrow">
              <a:avLst>
                <a:gd name="adj1" fmla="val 50000"/>
                <a:gd name="adj2" fmla="val 50023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143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C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2000" b="1">
                <a:latin typeface="+mj-lt"/>
              </a:endParaRPr>
            </a:p>
          </p:txBody>
        </p:sp>
        <p:sp>
          <p:nvSpPr>
            <p:cNvPr id="23" name="AutoShape 20"/>
            <p:cNvSpPr>
              <a:spLocks noChangeArrowheads="1"/>
            </p:cNvSpPr>
            <p:nvPr/>
          </p:nvSpPr>
          <p:spPr bwMode="auto">
            <a:xfrm>
              <a:off x="5381" y="2088"/>
              <a:ext cx="112" cy="138"/>
            </a:xfrm>
            <a:prstGeom prst="rightArrow">
              <a:avLst>
                <a:gd name="adj1" fmla="val 50000"/>
                <a:gd name="adj2" fmla="val 50023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143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C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2000" b="1">
                <a:latin typeface="+mj-lt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839" y="1003"/>
              <a:ext cx="4325" cy="12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 anchorCtr="1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>
                  <a:solidFill>
                    <a:srgbClr val="000000"/>
                  </a:solidFill>
                  <a:latin typeface="+mj-lt"/>
                </a:rPr>
                <a:t>Entorno</a:t>
              </a:r>
              <a:endParaRPr lang="en-US" altLang="es-MX" sz="1000" b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5" name="AutoShape 22"/>
            <p:cNvSpPr>
              <a:spLocks noChangeAspect="1" noChangeArrowheads="1"/>
            </p:cNvSpPr>
            <p:nvPr/>
          </p:nvSpPr>
          <p:spPr bwMode="auto">
            <a:xfrm>
              <a:off x="2925" y="1184"/>
              <a:ext cx="170" cy="76"/>
            </a:xfrm>
            <a:prstGeom prst="downArrow">
              <a:avLst>
                <a:gd name="adj1" fmla="val 50000"/>
                <a:gd name="adj2" fmla="val 50023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143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C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2000" b="1">
                <a:latin typeface="+mj-lt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 rot="16200000">
              <a:off x="-134" y="2044"/>
              <a:ext cx="1316" cy="187"/>
            </a:xfrm>
            <a:prstGeom prst="rect">
              <a:avLst/>
            </a:prstGeom>
            <a:solidFill>
              <a:srgbClr val="143B7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>
                  <a:solidFill>
                    <a:srgbClr val="FFFFFF"/>
                  </a:solidFill>
                  <a:latin typeface="+mj-lt"/>
                </a:rPr>
                <a:t>Entradas</a:t>
              </a:r>
              <a:endParaRPr lang="en-US" altLang="es-MX" sz="10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 rot="16200000">
              <a:off x="4122" y="2007"/>
              <a:ext cx="1157" cy="158"/>
            </a:xfrm>
            <a:prstGeom prst="rect">
              <a:avLst/>
            </a:prstGeom>
            <a:solidFill>
              <a:srgbClr val="143B7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>
                  <a:solidFill>
                    <a:srgbClr val="FFFFFF"/>
                  </a:solidFill>
                  <a:latin typeface="+mj-lt"/>
                </a:rPr>
                <a:t>Salidas</a:t>
              </a:r>
              <a:endParaRPr lang="en-US" altLang="es-MX" sz="1000" b="1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 rot="16200000">
              <a:off x="-138" y="1730"/>
              <a:ext cx="626" cy="12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Socios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 rot="16200000">
              <a:off x="-143" y="2408"/>
              <a:ext cx="638" cy="13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Proveedores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4851" y="2106"/>
              <a:ext cx="487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Información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4853" y="1616"/>
              <a:ext cx="485" cy="17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Productos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 rot="16200000">
              <a:off x="5325" y="1703"/>
              <a:ext cx="517" cy="12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Clientes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4" name="Rectangle 31"/>
            <p:cNvSpPr>
              <a:spLocks noChangeArrowheads="1"/>
            </p:cNvSpPr>
            <p:nvPr/>
          </p:nvSpPr>
          <p:spPr bwMode="auto">
            <a:xfrm>
              <a:off x="642" y="1895"/>
              <a:ext cx="48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Personal</a:t>
              </a:r>
            </a:p>
          </p:txBody>
        </p:sp>
        <p:sp>
          <p:nvSpPr>
            <p:cNvPr id="35" name="Rectangle 32"/>
            <p:cNvSpPr>
              <a:spLocks noChangeArrowheads="1"/>
            </p:cNvSpPr>
            <p:nvPr/>
          </p:nvSpPr>
          <p:spPr bwMode="auto">
            <a:xfrm>
              <a:off x="4853" y="1873"/>
              <a:ext cx="485" cy="15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Servicio</a:t>
              </a:r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 rot="-5400000">
              <a:off x="5286" y="2304"/>
              <a:ext cx="595" cy="12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C0C0C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>
                  <a:solidFill>
                    <a:srgbClr val="000000"/>
                  </a:solidFill>
                  <a:latin typeface="+mj-lt"/>
                </a:rPr>
                <a:t>Socios</a:t>
              </a:r>
              <a:endParaRPr lang="en-US" altLang="es-MX" sz="1000" b="1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8" name="Rectangle 35"/>
            <p:cNvSpPr>
              <a:spLocks noChangeArrowheads="1"/>
            </p:cNvSpPr>
            <p:nvPr/>
          </p:nvSpPr>
          <p:spPr bwMode="auto">
            <a:xfrm>
              <a:off x="1519" y="1927"/>
              <a:ext cx="2949" cy="544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6600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s-MX" altLang="es-MX" sz="900" b="1" u="sng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9" name="Rectangle 36"/>
            <p:cNvSpPr>
              <a:spLocks noChangeArrowheads="1"/>
            </p:cNvSpPr>
            <p:nvPr/>
          </p:nvSpPr>
          <p:spPr bwMode="auto">
            <a:xfrm>
              <a:off x="1577" y="2212"/>
              <a:ext cx="2949" cy="207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6666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 dirty="0">
                  <a:solidFill>
                    <a:srgbClr val="FFFFFF"/>
                  </a:solidFill>
                  <a:latin typeface="+mj-lt"/>
                </a:rPr>
                <a:t>Aseguramiento y Control de la Calidad</a:t>
              </a:r>
            </a:p>
          </p:txBody>
        </p:sp>
        <p:sp>
          <p:nvSpPr>
            <p:cNvPr id="40" name="Rectangle 37"/>
            <p:cNvSpPr>
              <a:spLocks noChangeArrowheads="1"/>
            </p:cNvSpPr>
            <p:nvPr/>
          </p:nvSpPr>
          <p:spPr bwMode="auto">
            <a:xfrm>
              <a:off x="642" y="2576"/>
              <a:ext cx="48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Información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4851" y="2369"/>
              <a:ext cx="487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CC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es-MX" sz="1000" b="1" dirty="0">
                  <a:solidFill>
                    <a:srgbClr val="000000"/>
                  </a:solidFill>
                  <a:latin typeface="+mj-lt"/>
                </a:rPr>
                <a:t>Utilidades</a:t>
              </a:r>
              <a:endParaRPr lang="en-US" altLang="es-MX" sz="1000" b="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9" name="AutoShape 46"/>
            <p:cNvSpPr>
              <a:spLocks noChangeArrowheads="1"/>
            </p:cNvSpPr>
            <p:nvPr/>
          </p:nvSpPr>
          <p:spPr bwMode="auto">
            <a:xfrm>
              <a:off x="3733" y="1772"/>
              <a:ext cx="772" cy="404"/>
            </a:xfrm>
            <a:prstGeom prst="chevron">
              <a:avLst>
                <a:gd name="adj" fmla="val 49871"/>
              </a:avLst>
            </a:pr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99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 eaLnBrk="0" hangingPunct="0"/>
              <a:r>
                <a:rPr lang="es-MX" altLang="es-MX" sz="1000" b="1" dirty="0">
                  <a:solidFill>
                    <a:schemeClr val="bg1"/>
                  </a:solidFill>
                  <a:latin typeface="+mj-lt"/>
                </a:rPr>
                <a:t>Logística</a:t>
              </a:r>
            </a:p>
          </p:txBody>
        </p:sp>
        <p:sp>
          <p:nvSpPr>
            <p:cNvPr id="50" name="AutoShape 47"/>
            <p:cNvSpPr>
              <a:spLocks noChangeArrowheads="1"/>
            </p:cNvSpPr>
            <p:nvPr/>
          </p:nvSpPr>
          <p:spPr bwMode="auto">
            <a:xfrm>
              <a:off x="3037" y="1772"/>
              <a:ext cx="796" cy="400"/>
            </a:xfrm>
            <a:prstGeom prst="chevron">
              <a:avLst>
                <a:gd name="adj" fmla="val 51421"/>
              </a:avLst>
            </a:pr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99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 eaLnBrk="0" hangingPunct="0"/>
              <a:r>
                <a:rPr lang="es-MX" altLang="es-MX" sz="1000" b="1" dirty="0">
                  <a:solidFill>
                    <a:schemeClr val="bg1"/>
                  </a:solidFill>
                  <a:latin typeface="+mj-lt"/>
                </a:rPr>
                <a:t>Comercial</a:t>
              </a:r>
            </a:p>
          </p:txBody>
        </p:sp>
        <p:sp>
          <p:nvSpPr>
            <p:cNvPr id="51" name="AutoShape 48"/>
            <p:cNvSpPr>
              <a:spLocks noChangeArrowheads="1"/>
            </p:cNvSpPr>
            <p:nvPr/>
          </p:nvSpPr>
          <p:spPr bwMode="auto">
            <a:xfrm>
              <a:off x="2303" y="1768"/>
              <a:ext cx="839" cy="411"/>
            </a:xfrm>
            <a:prstGeom prst="chevron">
              <a:avLst>
                <a:gd name="adj" fmla="val 54199"/>
              </a:avLst>
            </a:pr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99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 eaLnBrk="0" hangingPunct="0"/>
              <a:r>
                <a:rPr lang="es-MX" altLang="es-MX" sz="1000" b="1" dirty="0">
                  <a:solidFill>
                    <a:schemeClr val="bg1"/>
                  </a:solidFill>
                  <a:latin typeface="+mj-lt"/>
                </a:rPr>
                <a:t>Fabricación</a:t>
              </a:r>
            </a:p>
          </p:txBody>
        </p:sp>
        <p:sp>
          <p:nvSpPr>
            <p:cNvPr id="52" name="AutoShape 49"/>
            <p:cNvSpPr>
              <a:spLocks noChangeArrowheads="1"/>
            </p:cNvSpPr>
            <p:nvPr/>
          </p:nvSpPr>
          <p:spPr bwMode="auto">
            <a:xfrm>
              <a:off x="1517" y="1772"/>
              <a:ext cx="899" cy="407"/>
            </a:xfrm>
            <a:prstGeom prst="chevron">
              <a:avLst>
                <a:gd name="adj" fmla="val 54199"/>
              </a:avLst>
            </a:pr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99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 eaLnBrk="0" hangingPunct="0"/>
              <a:r>
                <a:rPr lang="es-MX" altLang="es-MX" sz="1000" b="1" dirty="0">
                  <a:solidFill>
                    <a:schemeClr val="bg1"/>
                  </a:solidFill>
                  <a:latin typeface="+mj-lt"/>
                </a:rPr>
                <a:t>Abastecimiento</a:t>
              </a: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1292" y="1318"/>
              <a:ext cx="3487" cy="146"/>
            </a:xfrm>
            <a:prstGeom prst="rect">
              <a:avLst/>
            </a:prstGeom>
            <a:solidFill>
              <a:srgbClr val="66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6666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MX" altLang="es-MX" sz="1000" b="1">
                  <a:solidFill>
                    <a:srgbClr val="FFFFFF"/>
                  </a:solidFill>
                  <a:latin typeface="+mj-lt"/>
                </a:rPr>
                <a:t>Gestión Estratégica</a:t>
              </a:r>
              <a:endParaRPr lang="en-US" altLang="es-MX" sz="1000" b="1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5" name="4 Botón de acción: Información">
            <a:hlinkClick r:id="rId2" action="ppaction://hlinksldjump" highlightClick="1"/>
          </p:cNvPr>
          <p:cNvSpPr/>
          <p:nvPr/>
        </p:nvSpPr>
        <p:spPr>
          <a:xfrm>
            <a:off x="690623" y="6237312"/>
            <a:ext cx="497001" cy="432048"/>
          </a:xfrm>
          <a:prstGeom prst="actionButtonInformation">
            <a:avLst/>
          </a:prstGeom>
          <a:solidFill>
            <a:srgbClr val="3333FF"/>
          </a:solidFill>
          <a:ln>
            <a:solidFill>
              <a:srgbClr val="BCB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48A171E-8786-46A2-BC77-BD5D64B901A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700626" y="1996471"/>
            <a:ext cx="726169" cy="400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hangingPunct="0">
              <a:spcBef>
                <a:spcPct val="50000"/>
              </a:spcBef>
            </a:pPr>
            <a:r>
              <a:rPr lang="es-MX" altLang="es-MX" sz="1000" b="1" dirty="0">
                <a:solidFill>
                  <a:srgbClr val="FFFFFF"/>
                </a:solidFill>
                <a:latin typeface="+mj-lt"/>
              </a:rPr>
              <a:t>Proceso Ejecutivo</a:t>
            </a:r>
          </a:p>
          <a:p>
            <a:pPr algn="ctr" eaLnBrk="0" hangingPunct="0">
              <a:spcBef>
                <a:spcPct val="50000"/>
              </a:spcBef>
            </a:pPr>
            <a:endParaRPr lang="en-US" altLang="es-MX" sz="1000" b="1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6381041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ítulo"/>
          <p:cNvSpPr>
            <a:spLocks noGrp="1"/>
          </p:cNvSpPr>
          <p:nvPr>
            <p:ph type="title"/>
          </p:nvPr>
        </p:nvSpPr>
        <p:spPr/>
        <p:txBody>
          <a:bodyPr bIns="91440" anchor="b" anchorCtr="0">
            <a:normAutofit fontScale="90000"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Resumen de Fortalezas de los procesos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Procesos</a:t>
            </a:r>
          </a:p>
          <a:p>
            <a:pPr lvl="1"/>
            <a:r>
              <a:rPr lang="es-MX" dirty="0"/>
              <a:t>Economías de escala</a:t>
            </a:r>
          </a:p>
          <a:p>
            <a:pPr lvl="1"/>
            <a:r>
              <a:rPr lang="es-MX" dirty="0"/>
              <a:t>Agilidad y flexibilidad</a:t>
            </a:r>
          </a:p>
          <a:p>
            <a:pPr lvl="1"/>
            <a:r>
              <a:rPr lang="es-MX" dirty="0"/>
              <a:t>Reputación</a:t>
            </a:r>
          </a:p>
          <a:p>
            <a:r>
              <a:rPr lang="es-MX" dirty="0"/>
              <a:t>Tecnología</a:t>
            </a:r>
          </a:p>
          <a:p>
            <a:pPr lvl="1"/>
            <a:r>
              <a:rPr lang="es-MX" dirty="0"/>
              <a:t>Automatización</a:t>
            </a:r>
          </a:p>
          <a:p>
            <a:pPr lvl="1"/>
            <a:r>
              <a:rPr lang="es-MX" dirty="0"/>
              <a:t>Última generación</a:t>
            </a:r>
          </a:p>
          <a:p>
            <a:r>
              <a:rPr lang="es-MX" dirty="0"/>
              <a:t>Gente</a:t>
            </a:r>
          </a:p>
          <a:p>
            <a:pPr lvl="1"/>
            <a:r>
              <a:rPr lang="es-MX" dirty="0"/>
              <a:t>Confianza y ética</a:t>
            </a:r>
          </a:p>
          <a:p>
            <a:pPr lvl="1"/>
            <a:r>
              <a:rPr lang="es-MX" dirty="0"/>
              <a:t>Comprometida</a:t>
            </a:r>
          </a:p>
          <a:p>
            <a:pPr lvl="1"/>
            <a:r>
              <a:rPr lang="es-MX" dirty="0"/>
              <a:t>Competente</a:t>
            </a:r>
          </a:p>
        </p:txBody>
      </p:sp>
      <p:sp>
        <p:nvSpPr>
          <p:cNvPr id="7" name="6 Botón de acción: Información">
            <a:hlinkClick r:id="rId2" action="ppaction://hlinksldjump" highlightClick="1"/>
          </p:cNvPr>
          <p:cNvSpPr/>
          <p:nvPr/>
        </p:nvSpPr>
        <p:spPr>
          <a:xfrm>
            <a:off x="690623" y="6237312"/>
            <a:ext cx="497001" cy="432048"/>
          </a:xfrm>
          <a:prstGeom prst="actionButtonInformation">
            <a:avLst/>
          </a:prstGeom>
          <a:solidFill>
            <a:srgbClr val="3333FF"/>
          </a:solidFill>
          <a:ln>
            <a:solidFill>
              <a:srgbClr val="BCB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708077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bIns="91440" anchor="b" anchorCtr="0">
            <a:normAutofit fontScale="90000"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Resumen de Debilidades de los procesos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Procesos</a:t>
            </a:r>
          </a:p>
          <a:p>
            <a:pPr lvl="1"/>
            <a:r>
              <a:rPr lang="es-MX" dirty="0"/>
              <a:t>Oportunidades de mejora</a:t>
            </a:r>
          </a:p>
          <a:p>
            <a:pPr lvl="1"/>
            <a:r>
              <a:rPr lang="es-MX" dirty="0"/>
              <a:t>Falta de espacio para crecer</a:t>
            </a:r>
          </a:p>
          <a:p>
            <a:pPr lvl="1"/>
            <a:r>
              <a:rPr lang="es-MX" dirty="0"/>
              <a:t>Ubicación de la Planta Polanco</a:t>
            </a:r>
          </a:p>
          <a:p>
            <a:pPr lvl="1"/>
            <a:r>
              <a:rPr lang="es-MX" dirty="0"/>
              <a:t>Documentación de procesos administrativos</a:t>
            </a:r>
          </a:p>
          <a:p>
            <a:pPr lvl="1"/>
            <a:r>
              <a:rPr lang="es-MX" dirty="0"/>
              <a:t>La planta de Querétaro es arrendada</a:t>
            </a:r>
          </a:p>
          <a:p>
            <a:r>
              <a:rPr lang="es-MX" dirty="0"/>
              <a:t>Tecnología</a:t>
            </a:r>
          </a:p>
          <a:p>
            <a:pPr lvl="1"/>
            <a:r>
              <a:rPr lang="es-MX" dirty="0"/>
              <a:t>Calidad de datos</a:t>
            </a:r>
          </a:p>
          <a:p>
            <a:pPr lvl="1"/>
            <a:r>
              <a:rPr lang="es-MX" dirty="0"/>
              <a:t>Polanco: Aplicaciones de fabricación</a:t>
            </a:r>
          </a:p>
          <a:p>
            <a:pPr lvl="1"/>
            <a:r>
              <a:rPr lang="es-MX" dirty="0"/>
              <a:t>Herramientas fuerza de ventas</a:t>
            </a:r>
          </a:p>
          <a:p>
            <a:pPr lvl="1"/>
            <a:r>
              <a:rPr lang="es-MX" dirty="0"/>
              <a:t>Subutilización de SAP-B1</a:t>
            </a:r>
          </a:p>
          <a:p>
            <a:r>
              <a:rPr lang="es-MX" dirty="0"/>
              <a:t>Gente</a:t>
            </a:r>
          </a:p>
          <a:p>
            <a:pPr lvl="1"/>
            <a:r>
              <a:rPr lang="es-MX" dirty="0"/>
              <a:t>Capacitación en competencias no técnicas</a:t>
            </a:r>
          </a:p>
          <a:p>
            <a:pPr lvl="1"/>
            <a:r>
              <a:rPr lang="es-MX" dirty="0"/>
              <a:t>Comunicación entre áreas</a:t>
            </a:r>
          </a:p>
          <a:p>
            <a:pPr lvl="1"/>
            <a:r>
              <a:rPr lang="es-MX" dirty="0"/>
              <a:t>Definición de roles y responsabilidades (Administración)</a:t>
            </a:r>
          </a:p>
          <a:p>
            <a:pPr lvl="1"/>
            <a:endParaRPr lang="es-MX" dirty="0"/>
          </a:p>
          <a:p>
            <a:endParaRPr lang="es-MX" dirty="0"/>
          </a:p>
        </p:txBody>
      </p:sp>
      <p:sp>
        <p:nvSpPr>
          <p:cNvPr id="6" name="5 Botón de acción: Información">
            <a:hlinkClick r:id="rId2" action="ppaction://hlinksldjump" highlightClick="1"/>
          </p:cNvPr>
          <p:cNvSpPr/>
          <p:nvPr/>
        </p:nvSpPr>
        <p:spPr>
          <a:xfrm>
            <a:off x="690623" y="6237312"/>
            <a:ext cx="497001" cy="432048"/>
          </a:xfrm>
          <a:prstGeom prst="actionButtonInformation">
            <a:avLst/>
          </a:prstGeom>
          <a:solidFill>
            <a:srgbClr val="3333FF"/>
          </a:solidFill>
          <a:ln>
            <a:solidFill>
              <a:srgbClr val="BCB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700236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Aseguramiento y </a:t>
            </a:r>
            <a:r>
              <a:rPr lang="es-MX" dirty="0" err="1">
                <a:latin typeface="Arial Rounded MT Bold" panose="020F0704030504030204" pitchFamily="34" charset="0"/>
              </a:rPr>
              <a:t>Ctrl</a:t>
            </a:r>
            <a:r>
              <a:rPr lang="es-MX" dirty="0">
                <a:latin typeface="Arial Rounded MT Bold" panose="020F0704030504030204" pitchFamily="34" charset="0"/>
              </a:rPr>
              <a:t>. de Calidad:</a:t>
            </a:r>
            <a:br>
              <a:rPr lang="es-MX" dirty="0">
                <a:latin typeface="Arial Rounded MT Bold" panose="020F0704030504030204" pitchFamily="34" charset="0"/>
              </a:rPr>
            </a:br>
            <a:r>
              <a:rPr lang="es-MX" dirty="0">
                <a:latin typeface="Arial Rounded MT Bold" panose="020F0704030504030204" pitchFamily="34" charset="0"/>
              </a:rPr>
              <a:t>Descomposición del proceso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>
                <a:latin typeface="+mj-lt"/>
              </a:rPr>
              <a:pPr/>
              <a:t>mayo de 2022</a:t>
            </a:fld>
            <a:endParaRPr lang="en-US" dirty="0">
              <a:latin typeface="+mj-lt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1005935195"/>
              </p:ext>
            </p:extLst>
          </p:nvPr>
        </p:nvGraphicFramePr>
        <p:xfrm>
          <a:off x="1835696" y="170080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5 Botón de acción: Información">
            <a:hlinkClick r:id="rId7" action="ppaction://hlinksldjump" highlightClick="1"/>
          </p:cNvPr>
          <p:cNvSpPr/>
          <p:nvPr/>
        </p:nvSpPr>
        <p:spPr>
          <a:xfrm>
            <a:off x="690623" y="6237312"/>
            <a:ext cx="497001" cy="432048"/>
          </a:xfrm>
          <a:prstGeom prst="actionButtonInformation">
            <a:avLst/>
          </a:prstGeom>
          <a:solidFill>
            <a:srgbClr val="3333FF"/>
          </a:solidFill>
          <a:ln>
            <a:solidFill>
              <a:srgbClr val="BCB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5183895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Aseguramiento y </a:t>
            </a:r>
            <a:r>
              <a:rPr lang="es-MX" dirty="0" err="1">
                <a:latin typeface="Arial Rounded MT Bold" panose="020F0704030504030204" pitchFamily="34" charset="0"/>
              </a:rPr>
              <a:t>Ctrl</a:t>
            </a:r>
            <a:r>
              <a:rPr lang="es-MX" dirty="0">
                <a:latin typeface="Arial Rounded MT Bold" panose="020F0704030504030204" pitchFamily="34" charset="0"/>
              </a:rPr>
              <a:t> de Calidad: </a:t>
            </a:r>
            <a:br>
              <a:rPr lang="es-MX" dirty="0">
                <a:latin typeface="Arial Rounded MT Bold" panose="020F0704030504030204" pitchFamily="34" charset="0"/>
              </a:rPr>
            </a:br>
            <a:r>
              <a:rPr lang="es-MX" dirty="0">
                <a:latin typeface="Arial Rounded MT Bold" panose="020F0704030504030204" pitchFamily="34" charset="0"/>
              </a:rPr>
              <a:t>Fortalezas y Debilidades</a:t>
            </a:r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53534"/>
              </p:ext>
            </p:extLst>
          </p:nvPr>
        </p:nvGraphicFramePr>
        <p:xfrm>
          <a:off x="760040" y="1667619"/>
          <a:ext cx="7772400" cy="4132361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542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s-MX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ASEGURAMIENTO  DE LA CALIDAD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24"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Objetivo:</a:t>
                      </a: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Garantizar que los procesos sean eficientes para la satisfacción del cliente, cumpliendo con la normatividad establecida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405">
                <a:tc>
                  <a:txBody>
                    <a:bodyPr/>
                    <a:lstStyle/>
                    <a:p>
                      <a:pPr algn="l" fontAlgn="t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PROCESOS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Fortalezas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Debilidades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372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Existe una certificación de calidad (ISO-9000, FSSC-22000, Kosher, Industria Limpia) que permite que los procesos estén implementados y funcionando correctamente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248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 comunicación entre las áreas es eficiente, lo que permite responder de manera ágil a las necesidades y problemas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405">
                <a:tc>
                  <a:txBody>
                    <a:bodyPr/>
                    <a:lstStyle/>
                    <a:p>
                      <a:pPr algn="l" fontAlgn="t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TECNOLOGÍA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Fortalezas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Debilidades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248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 herramienta tecnológica permite gestionar el círculo de calidad de manera integral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405">
                <a:tc>
                  <a:txBody>
                    <a:bodyPr/>
                    <a:lstStyle/>
                    <a:p>
                      <a:pPr algn="l" fontAlgn="t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GENTE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Fortalezas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Debilidades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248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 personal está bien capacitado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 actitud hacia el sistema de calidad en cada una de las instalaciones (Polanco, Tlalnepantla, Querétaro) es diferente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7124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Existe apoyo de la Alta Dirección para el sistema de Calidad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71372"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Existe madurez en el personal para defender el sistema de calidad ante los auditores de calidad y clientes, orientando que cualquier medida tenga valor al negocio</a:t>
                      </a:r>
                    </a:p>
                  </a:txBody>
                  <a:tcPr marL="7856" marR="7856" marT="785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856" marR="7856" marT="78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6 Botón de acción: Información">
            <a:hlinkClick r:id="rId2" action="ppaction://hlinksldjump" highlightClick="1"/>
          </p:cNvPr>
          <p:cNvSpPr/>
          <p:nvPr/>
        </p:nvSpPr>
        <p:spPr>
          <a:xfrm>
            <a:off x="690623" y="6237312"/>
            <a:ext cx="497001" cy="432048"/>
          </a:xfrm>
          <a:prstGeom prst="actionButtonInformation">
            <a:avLst/>
          </a:prstGeom>
          <a:solidFill>
            <a:srgbClr val="3333FF"/>
          </a:solidFill>
          <a:ln>
            <a:solidFill>
              <a:srgbClr val="BCB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3143754"/>
      </p:ext>
    </p:extLst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608-FHESA-Plantilla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AD83AED9C59149B983D4B8B409E505" ma:contentTypeVersion="17" ma:contentTypeDescription="Crear nuevo documento." ma:contentTypeScope="" ma:versionID="d17cfb6a58d5ec734b8724ceb283dc39">
  <xsd:schema xmlns:xsd="http://www.w3.org/2001/XMLSchema" xmlns:xs="http://www.w3.org/2001/XMLSchema" xmlns:p="http://schemas.microsoft.com/office/2006/metadata/properties" xmlns:ns2="d1e8bae3-04fd-4531-a565-fb0311d81b65" xmlns:ns3="2ec65329-4f00-4902-ac85-81fb0dbccde7" targetNamespace="http://schemas.microsoft.com/office/2006/metadata/properties" ma:root="true" ma:fieldsID="8624531d58f60aaef67d2b210dafda95" ns2:_="" ns3:_="">
    <xsd:import namespace="d1e8bae3-04fd-4531-a565-fb0311d81b65"/>
    <xsd:import namespace="2ec65329-4f00-4902-ac85-81fb0dbccd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e8bae3-04fd-4531-a565-fb0311d81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3212059e-99c6-4e7d-8081-b4731dd1de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c65329-4f00-4902-ac85-81fb0dbccd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a0addb9-58db-4100-8d8d-fd7253b44ab0}" ma:internalName="TaxCatchAll" ma:showField="CatchAllData" ma:web="2ec65329-4f00-4902-ac85-81fb0dbccd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e8bae3-04fd-4531-a565-fb0311d81b65">
      <Terms xmlns="http://schemas.microsoft.com/office/infopath/2007/PartnerControls"/>
    </lcf76f155ced4ddcb4097134ff3c332f>
    <TaxCatchAll xmlns="2ec65329-4f00-4902-ac85-81fb0dbccde7" xsi:nil="true"/>
  </documentManagement>
</p:properties>
</file>

<file path=customXml/itemProps1.xml><?xml version="1.0" encoding="utf-8"?>
<ds:datastoreItem xmlns:ds="http://schemas.openxmlformats.org/officeDocument/2006/customXml" ds:itemID="{0FB53F71-1B12-46CC-BFD6-21E5FA7C03C1}"/>
</file>

<file path=customXml/itemProps2.xml><?xml version="1.0" encoding="utf-8"?>
<ds:datastoreItem xmlns:ds="http://schemas.openxmlformats.org/officeDocument/2006/customXml" ds:itemID="{ABBCBE1F-4724-495D-A1A2-9E145FC199AD}"/>
</file>

<file path=customXml/itemProps3.xml><?xml version="1.0" encoding="utf-8"?>
<ds:datastoreItem xmlns:ds="http://schemas.openxmlformats.org/officeDocument/2006/customXml" ds:itemID="{1492D738-B530-43F2-ACF5-E38E4F9EB148}"/>
</file>

<file path=docProps/app.xml><?xml version="1.0" encoding="utf-8"?>
<Properties xmlns="http://schemas.openxmlformats.org/officeDocument/2006/extended-properties" xmlns:vt="http://schemas.openxmlformats.org/officeDocument/2006/docPropsVTypes">
  <Template>1608-FHESA-Plantilla</Template>
  <TotalTime>5022</TotalTime>
  <Words>572</Words>
  <Application>Microsoft Office PowerPoint</Application>
  <PresentationFormat>Presentación en pantalla (4:3)</PresentationFormat>
  <Paragraphs>176</Paragraphs>
  <Slides>9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Franklin Gothic Book</vt:lpstr>
      <vt:lpstr>Perpetua</vt:lpstr>
      <vt:lpstr>Wingdings 2</vt:lpstr>
      <vt:lpstr>1608-FHESA-Plantilla</vt:lpstr>
      <vt:lpstr>1_Diseño personalizado</vt:lpstr>
      <vt:lpstr>Diseño personalizado</vt:lpstr>
      <vt:lpstr>Planeación Estratégica</vt:lpstr>
      <vt:lpstr>Control de versiones</vt:lpstr>
      <vt:lpstr>Índice (1)</vt:lpstr>
      <vt:lpstr>Índice (2)</vt:lpstr>
      <vt:lpstr>Modelo de Procesos</vt:lpstr>
      <vt:lpstr>Resumen de Fortalezas de los procesos</vt:lpstr>
      <vt:lpstr>Resumen de Debilidades de los procesos</vt:lpstr>
      <vt:lpstr>Aseguramiento y Ctrl. de Calidad: Descomposición del proceso</vt:lpstr>
      <vt:lpstr>Aseguramiento y Ctrl de Calidad:  Fortalezas y Debilidades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Escobedo</dc:creator>
  <cp:lastModifiedBy>Nicolas Haidar Salazar</cp:lastModifiedBy>
  <cp:revision>104</cp:revision>
  <dcterms:created xsi:type="dcterms:W3CDTF">2016-08-03T18:23:24Z</dcterms:created>
  <dcterms:modified xsi:type="dcterms:W3CDTF">2022-05-24T15:01:13Z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0x010100FDAD83AED9C59149B983D4B8B409E505</vt:lpwstr>
  </property>
  <property fmtid="{D5CDD505-2E9C-101B-9397-08002B2CF9AE}" pid="3" name="Order">
    <vt:r8>5700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